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Aptos Bold" charset="1" panose="020B0004020202020204"/>
      <p:regular r:id="rId19"/>
    </p:embeddedFont>
    <p:embeddedFont>
      <p:font typeface="Aptos" charset="1" panose="020B0004020202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1320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26725" y="1098137"/>
            <a:ext cx="2882608" cy="2882608"/>
            <a:chOff x="0" y="0"/>
            <a:chExt cx="3843477" cy="38434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43528" cy="3843528"/>
            </a:xfrm>
            <a:custGeom>
              <a:avLst/>
              <a:gdLst/>
              <a:ahLst/>
              <a:cxnLst/>
              <a:rect r="r" b="b" t="t" l="l"/>
              <a:pathLst>
                <a:path h="3843528" w="3843528">
                  <a:moveTo>
                    <a:pt x="0" y="1921764"/>
                  </a:moveTo>
                  <a:cubicBezTo>
                    <a:pt x="0" y="860425"/>
                    <a:pt x="860425" y="0"/>
                    <a:pt x="1921764" y="0"/>
                  </a:cubicBezTo>
                  <a:cubicBezTo>
                    <a:pt x="2983103" y="0"/>
                    <a:pt x="3843528" y="860425"/>
                    <a:pt x="3843528" y="1921764"/>
                  </a:cubicBezTo>
                  <a:cubicBezTo>
                    <a:pt x="3843528" y="2983103"/>
                    <a:pt x="2983103" y="3843528"/>
                    <a:pt x="1921764" y="3843528"/>
                  </a:cubicBezTo>
                  <a:cubicBezTo>
                    <a:pt x="860425" y="3843528"/>
                    <a:pt x="0" y="2983103"/>
                    <a:pt x="0" y="1921764"/>
                  </a:cubicBezTo>
                  <a:close/>
                </a:path>
              </a:pathLst>
            </a:custGeom>
            <a:solidFill>
              <a:srgbClr val="2F67D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099392" y="3706216"/>
            <a:ext cx="1784471" cy="1784471"/>
            <a:chOff x="0" y="0"/>
            <a:chExt cx="2379294" cy="23792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79218" cy="2379218"/>
            </a:xfrm>
            <a:custGeom>
              <a:avLst/>
              <a:gdLst/>
              <a:ahLst/>
              <a:cxnLst/>
              <a:rect r="r" b="b" t="t" l="l"/>
              <a:pathLst>
                <a:path h="2379218" w="2379218">
                  <a:moveTo>
                    <a:pt x="0" y="1189609"/>
                  </a:moveTo>
                  <a:cubicBezTo>
                    <a:pt x="0" y="532638"/>
                    <a:pt x="532638" y="0"/>
                    <a:pt x="1189609" y="0"/>
                  </a:cubicBezTo>
                  <a:cubicBezTo>
                    <a:pt x="1846580" y="0"/>
                    <a:pt x="2379218" y="532638"/>
                    <a:pt x="2379218" y="1189609"/>
                  </a:cubicBezTo>
                  <a:cubicBezTo>
                    <a:pt x="2379218" y="1846580"/>
                    <a:pt x="1846580" y="2379218"/>
                    <a:pt x="1189609" y="2379218"/>
                  </a:cubicBezTo>
                  <a:cubicBezTo>
                    <a:pt x="532638" y="2379218"/>
                    <a:pt x="0" y="1846707"/>
                    <a:pt x="0" y="1189609"/>
                  </a:cubicBezTo>
                  <a:close/>
                </a:path>
              </a:pathLst>
            </a:custGeom>
            <a:solidFill>
              <a:srgbClr val="18A699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177657" y="6451559"/>
            <a:ext cx="2745343" cy="2745343"/>
            <a:chOff x="0" y="0"/>
            <a:chExt cx="3660458" cy="36604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60521" cy="3660521"/>
            </a:xfrm>
            <a:custGeom>
              <a:avLst/>
              <a:gdLst/>
              <a:ahLst/>
              <a:cxnLst/>
              <a:rect r="r" b="b" t="t" l="l"/>
              <a:pathLst>
                <a:path h="3660521" w="3660521">
                  <a:moveTo>
                    <a:pt x="0" y="1830197"/>
                  </a:moveTo>
                  <a:cubicBezTo>
                    <a:pt x="0" y="819404"/>
                    <a:pt x="819404" y="0"/>
                    <a:pt x="1830197" y="0"/>
                  </a:cubicBezTo>
                  <a:cubicBezTo>
                    <a:pt x="2840990" y="0"/>
                    <a:pt x="3660521" y="819404"/>
                    <a:pt x="3660521" y="1830197"/>
                  </a:cubicBezTo>
                  <a:cubicBezTo>
                    <a:pt x="3660521" y="2840990"/>
                    <a:pt x="2840990" y="3660521"/>
                    <a:pt x="1830197" y="3660521"/>
                  </a:cubicBezTo>
                  <a:cubicBezTo>
                    <a:pt x="819404" y="3660521"/>
                    <a:pt x="0" y="2840990"/>
                    <a:pt x="0" y="1830197"/>
                  </a:cubicBezTo>
                  <a:close/>
                </a:path>
              </a:pathLst>
            </a:custGeom>
            <a:solidFill>
              <a:srgbClr val="25375B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39926" y="1771088"/>
            <a:ext cx="11933215" cy="2113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BOX-OFFICE REVENUE</a:t>
            </a:r>
          </a:p>
          <a:p>
            <a:pPr algn="l">
              <a:lnSpc>
                <a:spcPts val="5764"/>
              </a:lnSpc>
            </a:pPr>
            <a:r>
              <a:rPr lang="en-US" sz="4803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PREDICTION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08554" y="4232367"/>
            <a:ext cx="11521411" cy="681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3"/>
              </a:lnSpc>
            </a:pPr>
            <a:r>
              <a:rPr lang="en-US" sz="3452" b="true">
                <a:solidFill>
                  <a:srgbClr val="AADCEB"/>
                </a:solidFill>
                <a:latin typeface="Aptos Bold"/>
                <a:ea typeface="Aptos Bold"/>
                <a:cs typeface="Aptos Bold"/>
                <a:sym typeface="Aptos Bold"/>
              </a:rPr>
              <a:t>Using Elastic Net Regression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08554" y="5399141"/>
            <a:ext cx="11521411" cy="613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Machine Learning Project | TMDB 5000 Movie Dataset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08554" y="7654528"/>
            <a:ext cx="9874206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D5DEEE"/>
                </a:solidFill>
                <a:latin typeface="Aptos"/>
                <a:ea typeface="Aptos"/>
                <a:cs typeface="Aptos"/>
                <a:sym typeface="Aptos"/>
              </a:rPr>
              <a:t>Presented by: Mohammad Simi Ayana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D5DEEE"/>
                </a:solidFill>
                <a:latin typeface="Aptos"/>
                <a:ea typeface="Aptos"/>
                <a:cs typeface="Aptos"/>
                <a:sym typeface="Aptos"/>
              </a:rPr>
              <a:t>Roll Number: 2520030254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819759" y="9713538"/>
            <a:ext cx="540029" cy="21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BEC8DC"/>
                </a:solidFill>
                <a:latin typeface="Aptos Bold"/>
                <a:ea typeface="Aptos Bold"/>
                <a:cs typeface="Aptos Bold"/>
                <a:sym typeface="Aptos Bold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92176"/>
            <a:chOff x="0" y="0"/>
            <a:chExt cx="24402453" cy="2562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256286"/>
            </a:xfrm>
            <a:custGeom>
              <a:avLst/>
              <a:gdLst/>
              <a:ahLst/>
              <a:cxnLst/>
              <a:rect r="r" b="b" t="t" l="l"/>
              <a:pathLst>
                <a:path h="256286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18A699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65387" y="631765"/>
            <a:ext cx="16325764" cy="713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13203D"/>
                </a:solidFill>
                <a:latin typeface="Aptos Bold"/>
                <a:ea typeface="Aptos Bold"/>
                <a:cs typeface="Aptos Bold"/>
                <a:sym typeface="Aptos Bold"/>
              </a:rPr>
              <a:t>Project Overview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06573" y="1459573"/>
            <a:ext cx="16051235" cy="475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D697B"/>
                </a:solidFill>
                <a:latin typeface="Aptos"/>
                <a:ea typeface="Aptos"/>
                <a:cs typeface="Aptos"/>
                <a:sym typeface="Aptos"/>
              </a:rPr>
              <a:t>A supervised ML workflow for estimating movie revenue.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819759" y="9713538"/>
            <a:ext cx="540029" cy="21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5D697B"/>
                </a:solidFill>
                <a:latin typeface="Aptos Bold"/>
                <a:ea typeface="Aptos Bold"/>
                <a:cs typeface="Aptos Bold"/>
                <a:sym typeface="Aptos Bold"/>
              </a:rPr>
              <a:t>02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2356" y="2463660"/>
            <a:ext cx="5161817" cy="2759640"/>
            <a:chOff x="0" y="0"/>
            <a:chExt cx="6882422" cy="3679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882384" cy="3679571"/>
            </a:xfrm>
            <a:custGeom>
              <a:avLst/>
              <a:gdLst/>
              <a:ahLst/>
              <a:cxnLst/>
              <a:rect r="r" b="b" t="t" l="l"/>
              <a:pathLst>
                <a:path h="3679571" w="6882384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6269101" y="0"/>
                  </a:lnTo>
                  <a:cubicBezTo>
                    <a:pt x="6607810" y="0"/>
                    <a:pt x="6882384" y="274574"/>
                    <a:pt x="6882384" y="613283"/>
                  </a:cubicBezTo>
                  <a:lnTo>
                    <a:pt x="6882384" y="3066288"/>
                  </a:lnTo>
                  <a:cubicBezTo>
                    <a:pt x="6882384" y="3404997"/>
                    <a:pt x="6607810" y="3679571"/>
                    <a:pt x="6269101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CE3EE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029500" y="2470814"/>
            <a:ext cx="137265" cy="2745343"/>
            <a:chOff x="0" y="0"/>
            <a:chExt cx="183020" cy="36604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3007" cy="3660521"/>
            </a:xfrm>
            <a:custGeom>
              <a:avLst/>
              <a:gdLst/>
              <a:ahLst/>
              <a:cxnLst/>
              <a:rect r="r" b="b" t="t" l="l"/>
              <a:pathLst>
                <a:path h="3660521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3660521"/>
                  </a:lnTo>
                  <a:lnTo>
                    <a:pt x="0" y="3660521"/>
                  </a:lnTo>
                  <a:close/>
                </a:path>
              </a:pathLst>
            </a:custGeom>
            <a:solidFill>
              <a:srgbClr val="2F67D8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445828" y="2736161"/>
            <a:ext cx="4452147" cy="40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3203D"/>
                </a:solidFill>
                <a:latin typeface="Aptos Bold"/>
                <a:ea typeface="Aptos Bold"/>
                <a:cs typeface="Aptos Bold"/>
                <a:sym typeface="Aptos Bold"/>
              </a:rPr>
              <a:t>Problem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45828" y="3312681"/>
            <a:ext cx="4424696" cy="1738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283040"/>
                </a:solidFill>
                <a:latin typeface="Aptos"/>
                <a:ea typeface="Aptos"/>
                <a:cs typeface="Aptos"/>
                <a:sym typeface="Aptos"/>
              </a:rPr>
              <a:t>Estimating box-office revenue before release is difficult because many factors influence performance.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581680" y="2463660"/>
            <a:ext cx="5161817" cy="2759640"/>
            <a:chOff x="0" y="0"/>
            <a:chExt cx="6882422" cy="3679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882384" cy="3679571"/>
            </a:xfrm>
            <a:custGeom>
              <a:avLst/>
              <a:gdLst/>
              <a:ahLst/>
              <a:cxnLst/>
              <a:rect r="r" b="b" t="t" l="l"/>
              <a:pathLst>
                <a:path h="3679571" w="6882384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6269101" y="0"/>
                  </a:lnTo>
                  <a:cubicBezTo>
                    <a:pt x="6607810" y="0"/>
                    <a:pt x="6882384" y="274574"/>
                    <a:pt x="6882384" y="613283"/>
                  </a:cubicBezTo>
                  <a:lnTo>
                    <a:pt x="6882384" y="3066288"/>
                  </a:lnTo>
                  <a:cubicBezTo>
                    <a:pt x="6882384" y="3404997"/>
                    <a:pt x="6607810" y="3679571"/>
                    <a:pt x="6269101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CE3EE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588824" y="2470814"/>
            <a:ext cx="137265" cy="2745343"/>
            <a:chOff x="0" y="0"/>
            <a:chExt cx="183020" cy="366045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3007" cy="3660521"/>
            </a:xfrm>
            <a:custGeom>
              <a:avLst/>
              <a:gdLst/>
              <a:ahLst/>
              <a:cxnLst/>
              <a:rect r="r" b="b" t="t" l="l"/>
              <a:pathLst>
                <a:path h="3660521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3660521"/>
                  </a:lnTo>
                  <a:lnTo>
                    <a:pt x="0" y="3660521"/>
                  </a:lnTo>
                  <a:close/>
                </a:path>
              </a:pathLst>
            </a:custGeom>
            <a:solidFill>
              <a:srgbClr val="18A699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7005152" y="2736161"/>
            <a:ext cx="4452147" cy="40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3203D"/>
                </a:solidFill>
                <a:latin typeface="Aptos Bold"/>
                <a:ea typeface="Aptos Bold"/>
                <a:cs typeface="Aptos Bold"/>
                <a:sym typeface="Aptos Bold"/>
              </a:rPr>
              <a:t>Approach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005152" y="3312681"/>
            <a:ext cx="4424696" cy="1738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283040"/>
                </a:solidFill>
                <a:latin typeface="Aptos"/>
                <a:ea typeface="Aptos"/>
                <a:cs typeface="Aptos"/>
                <a:sym typeface="Aptos"/>
              </a:rPr>
              <a:t>Train Elastic Net on historical metadata after cleaning, encoding and feature engineering.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141003" y="2463660"/>
            <a:ext cx="5161817" cy="2759640"/>
            <a:chOff x="0" y="0"/>
            <a:chExt cx="6882422" cy="3679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882384" cy="3679571"/>
            </a:xfrm>
            <a:custGeom>
              <a:avLst/>
              <a:gdLst/>
              <a:ahLst/>
              <a:cxnLst/>
              <a:rect r="r" b="b" t="t" l="l"/>
              <a:pathLst>
                <a:path h="3679571" w="6882384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6269101" y="0"/>
                  </a:lnTo>
                  <a:cubicBezTo>
                    <a:pt x="6607810" y="0"/>
                    <a:pt x="6882384" y="274574"/>
                    <a:pt x="6882384" y="613283"/>
                  </a:cubicBezTo>
                  <a:lnTo>
                    <a:pt x="6882384" y="3066288"/>
                  </a:lnTo>
                  <a:cubicBezTo>
                    <a:pt x="6882384" y="3404997"/>
                    <a:pt x="6607810" y="3679571"/>
                    <a:pt x="6269101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CE3EE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2148147" y="2470814"/>
            <a:ext cx="137265" cy="2745343"/>
            <a:chOff x="0" y="0"/>
            <a:chExt cx="183020" cy="366045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83007" cy="3660521"/>
            </a:xfrm>
            <a:custGeom>
              <a:avLst/>
              <a:gdLst/>
              <a:ahLst/>
              <a:cxnLst/>
              <a:rect r="r" b="b" t="t" l="l"/>
              <a:pathLst>
                <a:path h="3660521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3660521"/>
                  </a:lnTo>
                  <a:lnTo>
                    <a:pt x="0" y="3660521"/>
                  </a:lnTo>
                  <a:close/>
                </a:path>
              </a:pathLst>
            </a:custGeom>
            <a:solidFill>
              <a:srgbClr val="F59D42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2564475" y="2736161"/>
            <a:ext cx="4452147" cy="40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3203D"/>
                </a:solidFill>
                <a:latin typeface="Aptos Bold"/>
                <a:ea typeface="Aptos Bold"/>
                <a:cs typeface="Aptos Bold"/>
                <a:sym typeface="Aptos Bold"/>
              </a:rPr>
              <a:t>Output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564475" y="3312681"/>
            <a:ext cx="4424696" cy="1738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283040"/>
                </a:solidFill>
                <a:latin typeface="Aptos"/>
                <a:ea typeface="Aptos"/>
                <a:cs typeface="Aptos"/>
                <a:sym typeface="Aptos"/>
              </a:rPr>
              <a:t>A Flask web application serves predictions from the trained model.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08554" y="6154112"/>
            <a:ext cx="15639431" cy="681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3"/>
              </a:lnSpc>
            </a:pPr>
            <a:r>
              <a:rPr lang="en-US" sz="3452" b="true">
                <a:solidFill>
                  <a:srgbClr val="13203D"/>
                </a:solidFill>
                <a:latin typeface="Aptos Bold"/>
                <a:ea typeface="Aptos Bold"/>
                <a:cs typeface="Aptos Bold"/>
                <a:sym typeface="Aptos Bold"/>
              </a:rPr>
              <a:t>Primary algorithm: Elastic Net Regression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83093" y="7183612"/>
            <a:ext cx="14953088" cy="88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5D697B"/>
                </a:solidFill>
                <a:latin typeface="Aptos"/>
                <a:ea typeface="Aptos"/>
                <a:cs typeface="Aptos"/>
                <a:sym typeface="Aptos"/>
              </a:rPr>
              <a:t>Additional modules cover tree-model comparison, clustering, dimensionality reduction and anomaly detection.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92176"/>
            <a:chOff x="0" y="0"/>
            <a:chExt cx="24402453" cy="2562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256286"/>
            </a:xfrm>
            <a:custGeom>
              <a:avLst/>
              <a:gdLst/>
              <a:ahLst/>
              <a:cxnLst/>
              <a:rect r="r" b="b" t="t" l="l"/>
              <a:pathLst>
                <a:path h="256286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18A699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65387" y="631765"/>
            <a:ext cx="16325764" cy="713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13203D"/>
                </a:solidFill>
                <a:latin typeface="Aptos Bold"/>
                <a:ea typeface="Aptos Bold"/>
                <a:cs typeface="Aptos Bold"/>
                <a:sym typeface="Aptos Bold"/>
              </a:rPr>
              <a:t>Introduction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06573" y="1459573"/>
            <a:ext cx="16051235" cy="475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D697B"/>
                </a:solidFill>
                <a:latin typeface="Aptos"/>
                <a:ea typeface="Aptos"/>
                <a:cs typeface="Aptos"/>
                <a:sym typeface="Aptos"/>
              </a:rPr>
              <a:t>Why use historical movie data?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819759" y="9713538"/>
            <a:ext cx="540029" cy="21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5D697B"/>
                </a:solidFill>
                <a:latin typeface="Aptos Bold"/>
                <a:ea typeface="Aptos Bold"/>
                <a:cs typeface="Aptos Bold"/>
                <a:sym typeface="Aptos Bold"/>
              </a:rPr>
              <a:t>03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08554" y="2516534"/>
            <a:ext cx="15639431" cy="6634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83040"/>
                </a:solidFill>
                <a:latin typeface="Aptos"/>
                <a:ea typeface="Aptos"/>
                <a:cs typeface="Aptos"/>
                <a:sym typeface="Aptos"/>
              </a:rPr>
              <a:t>•  Box-office revenue varies widely across movies.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83040"/>
                </a:solidFill>
                <a:latin typeface="Aptos"/>
                <a:ea typeface="Aptos"/>
                <a:cs typeface="Aptos"/>
                <a:sym typeface="Aptos"/>
              </a:rPr>
              <a:t>•  Budget, runtime, genre, language and release timing may provide useful predictive signals.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83040"/>
                </a:solidFill>
                <a:latin typeface="Aptos"/>
                <a:ea typeface="Aptos"/>
                <a:cs typeface="Aptos"/>
                <a:sym typeface="Aptos"/>
              </a:rPr>
              <a:t>•  Revenue is highly right-skewed, with a small number of movies earning exceptionally large amounts.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83040"/>
                </a:solidFill>
                <a:latin typeface="Aptos"/>
                <a:ea typeface="Aptos"/>
                <a:cs typeface="Aptos"/>
                <a:sym typeface="Aptos"/>
              </a:rPr>
              <a:t>•  The project applies log1p(revenue) during model training to reduce the influence of extreme values.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83040"/>
                </a:solidFill>
                <a:latin typeface="Aptos"/>
                <a:ea typeface="Aptos"/>
                <a:cs typeface="Aptos"/>
                <a:sym typeface="Aptos"/>
              </a:rPr>
              <a:t>•  Predictions are estimates, not guarantees of actual earnings.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92176"/>
            <a:chOff x="0" y="0"/>
            <a:chExt cx="24402453" cy="2562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256286"/>
            </a:xfrm>
            <a:custGeom>
              <a:avLst/>
              <a:gdLst/>
              <a:ahLst/>
              <a:cxnLst/>
              <a:rect r="r" b="b" t="t" l="l"/>
              <a:pathLst>
                <a:path h="256286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18A699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65387" y="631765"/>
            <a:ext cx="16325764" cy="713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13203D"/>
                </a:solidFill>
                <a:latin typeface="Aptos Bold"/>
                <a:ea typeface="Aptos Bold"/>
                <a:cs typeface="Aptos Bold"/>
                <a:sym typeface="Aptos Bold"/>
              </a:rPr>
              <a:t>Problem Statement &amp; Objectives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06573" y="1459573"/>
            <a:ext cx="16051235" cy="475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D697B"/>
                </a:solidFill>
                <a:latin typeface="Aptos"/>
                <a:ea typeface="Aptos"/>
                <a:cs typeface="Aptos"/>
                <a:sym typeface="Aptos"/>
              </a:rPr>
              <a:t>Define the prediction task and deliverables.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819759" y="9713538"/>
            <a:ext cx="540029" cy="21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5D697B"/>
                </a:solidFill>
                <a:latin typeface="Aptos Bold"/>
                <a:ea typeface="Aptos Bold"/>
                <a:cs typeface="Aptos Bold"/>
                <a:sym typeface="Aptos Bold"/>
              </a:rPr>
              <a:t>04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90984" y="2395023"/>
            <a:ext cx="7838532" cy="5093189"/>
            <a:chOff x="0" y="0"/>
            <a:chExt cx="10451376" cy="679091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51338" cy="6790944"/>
            </a:xfrm>
            <a:custGeom>
              <a:avLst/>
              <a:gdLst/>
              <a:ahLst/>
              <a:cxnLst/>
              <a:rect r="r" b="b" t="t" l="l"/>
              <a:pathLst>
                <a:path h="6790944" w="10451338">
                  <a:moveTo>
                    <a:pt x="0" y="1131824"/>
                  </a:moveTo>
                  <a:cubicBezTo>
                    <a:pt x="0" y="506730"/>
                    <a:pt x="506730" y="0"/>
                    <a:pt x="1131824" y="0"/>
                  </a:cubicBezTo>
                  <a:lnTo>
                    <a:pt x="9319514" y="0"/>
                  </a:lnTo>
                  <a:cubicBezTo>
                    <a:pt x="9944608" y="0"/>
                    <a:pt x="10451338" y="506730"/>
                    <a:pt x="10451338" y="1131824"/>
                  </a:cubicBezTo>
                  <a:lnTo>
                    <a:pt x="10451338" y="5659120"/>
                  </a:lnTo>
                  <a:cubicBezTo>
                    <a:pt x="10451338" y="6284214"/>
                    <a:pt x="9944608" y="6790944"/>
                    <a:pt x="9319514" y="6790944"/>
                  </a:cubicBezTo>
                  <a:lnTo>
                    <a:pt x="1131824" y="6790944"/>
                  </a:lnTo>
                  <a:cubicBezTo>
                    <a:pt x="506730" y="6790944"/>
                    <a:pt x="0" y="6284214"/>
                    <a:pt x="0" y="565912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CE3EE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098137" y="2402176"/>
            <a:ext cx="137265" cy="5078892"/>
            <a:chOff x="0" y="0"/>
            <a:chExt cx="183020" cy="677185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3007" cy="6771894"/>
            </a:xfrm>
            <a:custGeom>
              <a:avLst/>
              <a:gdLst/>
              <a:ahLst/>
              <a:cxnLst/>
              <a:rect r="r" b="b" t="t" l="l"/>
              <a:pathLst>
                <a:path h="6771894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6771894"/>
                  </a:lnTo>
                  <a:lnTo>
                    <a:pt x="0" y="6771894"/>
                  </a:lnTo>
                  <a:close/>
                </a:path>
              </a:pathLst>
            </a:custGeom>
            <a:solidFill>
              <a:srgbClr val="2F67D8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514456" y="2667524"/>
            <a:ext cx="7128862" cy="40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3203D"/>
                </a:solidFill>
                <a:latin typeface="Aptos Bold"/>
                <a:ea typeface="Aptos Bold"/>
                <a:cs typeface="Aptos Bold"/>
                <a:sym typeface="Aptos Bold"/>
              </a:rPr>
              <a:t>Problem Statement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14456" y="3244044"/>
            <a:ext cx="7101402" cy="407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83040"/>
                </a:solidFill>
                <a:latin typeface="Aptos"/>
                <a:ea typeface="Aptos"/>
                <a:cs typeface="Aptos"/>
                <a:sym typeface="Aptos"/>
              </a:rPr>
              <a:t>Predict expected box-office revenue from historical movie metadata. Revenue depends on several factors and contains substantial uncertainty.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327023" y="2395023"/>
            <a:ext cx="7838532" cy="5093189"/>
            <a:chOff x="0" y="0"/>
            <a:chExt cx="10451376" cy="679091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451338" cy="6790944"/>
            </a:xfrm>
            <a:custGeom>
              <a:avLst/>
              <a:gdLst/>
              <a:ahLst/>
              <a:cxnLst/>
              <a:rect r="r" b="b" t="t" l="l"/>
              <a:pathLst>
                <a:path h="6790944" w="10451338">
                  <a:moveTo>
                    <a:pt x="0" y="1131824"/>
                  </a:moveTo>
                  <a:cubicBezTo>
                    <a:pt x="0" y="506730"/>
                    <a:pt x="506730" y="0"/>
                    <a:pt x="1131824" y="0"/>
                  </a:cubicBezTo>
                  <a:lnTo>
                    <a:pt x="9319514" y="0"/>
                  </a:lnTo>
                  <a:cubicBezTo>
                    <a:pt x="9944608" y="0"/>
                    <a:pt x="10451338" y="506730"/>
                    <a:pt x="10451338" y="1131824"/>
                  </a:cubicBezTo>
                  <a:lnTo>
                    <a:pt x="10451338" y="5659120"/>
                  </a:lnTo>
                  <a:cubicBezTo>
                    <a:pt x="10451338" y="6284214"/>
                    <a:pt x="9944608" y="6790944"/>
                    <a:pt x="9319514" y="6790944"/>
                  </a:cubicBezTo>
                  <a:lnTo>
                    <a:pt x="1131824" y="6790944"/>
                  </a:lnTo>
                  <a:cubicBezTo>
                    <a:pt x="506730" y="6790944"/>
                    <a:pt x="0" y="6284214"/>
                    <a:pt x="0" y="565912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CE3EE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9334176" y="2402176"/>
            <a:ext cx="137265" cy="5078892"/>
            <a:chOff x="0" y="0"/>
            <a:chExt cx="183020" cy="677185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3007" cy="6771894"/>
            </a:xfrm>
            <a:custGeom>
              <a:avLst/>
              <a:gdLst/>
              <a:ahLst/>
              <a:cxnLst/>
              <a:rect r="r" b="b" t="t" l="l"/>
              <a:pathLst>
                <a:path h="6771894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6771894"/>
                  </a:lnTo>
                  <a:lnTo>
                    <a:pt x="0" y="6771894"/>
                  </a:lnTo>
                  <a:close/>
                </a:path>
              </a:pathLst>
            </a:custGeom>
            <a:solidFill>
              <a:srgbClr val="18A699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750495" y="2667524"/>
            <a:ext cx="7128862" cy="40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3203D"/>
                </a:solidFill>
                <a:latin typeface="Aptos Bold"/>
                <a:ea typeface="Aptos Bold"/>
                <a:cs typeface="Aptos Bold"/>
                <a:sym typeface="Aptos Bold"/>
              </a:rPr>
              <a:t>Objectives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750495" y="3244044"/>
            <a:ext cx="7101402" cy="407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83040"/>
                </a:solidFill>
                <a:latin typeface="Aptos"/>
                <a:ea typeface="Aptos"/>
                <a:cs typeface="Aptos"/>
                <a:sym typeface="Aptos"/>
              </a:rPr>
              <a:t>• Prepare a usable dataset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83040"/>
                </a:solidFill>
                <a:latin typeface="Aptos"/>
                <a:ea typeface="Aptos"/>
                <a:cs typeface="Aptos"/>
                <a:sym typeface="Aptos"/>
              </a:rPr>
              <a:t>• Engineer informative features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83040"/>
                </a:solidFill>
                <a:latin typeface="Aptos"/>
                <a:ea typeface="Aptos"/>
                <a:cs typeface="Aptos"/>
                <a:sym typeface="Aptos"/>
              </a:rPr>
              <a:t>• Train and tune Elastic Net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83040"/>
                </a:solidFill>
                <a:latin typeface="Aptos"/>
                <a:ea typeface="Aptos"/>
                <a:cs typeface="Aptos"/>
                <a:sym typeface="Aptos"/>
              </a:rPr>
              <a:t>• Evaluate with MAE, RMSE and R²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83040"/>
                </a:solidFill>
                <a:latin typeface="Aptos"/>
                <a:ea typeface="Aptos"/>
                <a:cs typeface="Aptos"/>
                <a:sym typeface="Aptos"/>
              </a:rPr>
              <a:t>• Compare supporting algorithms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83040"/>
                </a:solidFill>
                <a:latin typeface="Aptos"/>
                <a:ea typeface="Aptos"/>
                <a:cs typeface="Aptos"/>
                <a:sym typeface="Aptos"/>
              </a:rPr>
              <a:t>• Serve predictions through Flask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45828" y="8419024"/>
            <a:ext cx="14953088" cy="40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>
                <a:solidFill>
                  <a:srgbClr val="5D697B"/>
                </a:solidFill>
                <a:latin typeface="Aptos"/>
                <a:ea typeface="Aptos"/>
                <a:cs typeface="Aptos"/>
                <a:sym typeface="Aptos"/>
              </a:rPr>
              <a:t>Scope: academic prototype using historical metadata and local web serving.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92176"/>
            <a:chOff x="0" y="0"/>
            <a:chExt cx="24402453" cy="2562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256286"/>
            </a:xfrm>
            <a:custGeom>
              <a:avLst/>
              <a:gdLst/>
              <a:ahLst/>
              <a:cxnLst/>
              <a:rect r="r" b="b" t="t" l="l"/>
              <a:pathLst>
                <a:path h="256286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18A699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65387" y="631765"/>
            <a:ext cx="16325764" cy="713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13203D"/>
                </a:solidFill>
                <a:latin typeface="Aptos Bold"/>
                <a:ea typeface="Aptos Bold"/>
                <a:cs typeface="Aptos Bold"/>
                <a:sym typeface="Aptos Bold"/>
              </a:rPr>
              <a:t>Dataset Overview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06573" y="1459573"/>
            <a:ext cx="16051235" cy="475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D697B"/>
                </a:solidFill>
                <a:latin typeface="Aptos"/>
                <a:ea typeface="Aptos"/>
                <a:cs typeface="Aptos"/>
                <a:sym typeface="Aptos"/>
              </a:rPr>
              <a:t>TMDB 5000 Movie Dataset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819759" y="9713538"/>
            <a:ext cx="540029" cy="21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5D697B"/>
                </a:solidFill>
                <a:latin typeface="Aptos Bold"/>
                <a:ea typeface="Aptos Bold"/>
                <a:cs typeface="Aptos Bold"/>
                <a:sym typeface="Aptos Bold"/>
              </a:rPr>
              <a:t>05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90984" y="2463660"/>
            <a:ext cx="5024552" cy="2210572"/>
            <a:chOff x="0" y="0"/>
            <a:chExt cx="6699402" cy="294742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699377" cy="2947416"/>
            </a:xfrm>
            <a:custGeom>
              <a:avLst/>
              <a:gdLst/>
              <a:ahLst/>
              <a:cxnLst/>
              <a:rect r="r" b="b" t="t" l="l"/>
              <a:pathLst>
                <a:path h="2947416" w="6699377">
                  <a:moveTo>
                    <a:pt x="0" y="491236"/>
                  </a:moveTo>
                  <a:cubicBezTo>
                    <a:pt x="0" y="219964"/>
                    <a:pt x="219964" y="0"/>
                    <a:pt x="491236" y="0"/>
                  </a:cubicBezTo>
                  <a:lnTo>
                    <a:pt x="6208141" y="0"/>
                  </a:lnTo>
                  <a:cubicBezTo>
                    <a:pt x="6479413" y="0"/>
                    <a:pt x="6699377" y="219964"/>
                    <a:pt x="6699377" y="491236"/>
                  </a:cubicBezTo>
                  <a:lnTo>
                    <a:pt x="6699377" y="2456180"/>
                  </a:lnTo>
                  <a:cubicBezTo>
                    <a:pt x="6699377" y="2727452"/>
                    <a:pt x="6479413" y="2947416"/>
                    <a:pt x="6208141" y="2947416"/>
                  </a:cubicBezTo>
                  <a:lnTo>
                    <a:pt x="491236" y="2947416"/>
                  </a:lnTo>
                  <a:cubicBezTo>
                    <a:pt x="219964" y="2947416"/>
                    <a:pt x="0" y="2727452"/>
                    <a:pt x="0" y="245618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CE3EE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098137" y="2470814"/>
            <a:ext cx="137265" cy="2196274"/>
            <a:chOff x="0" y="0"/>
            <a:chExt cx="183020" cy="292836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3007" cy="2928366"/>
            </a:xfrm>
            <a:custGeom>
              <a:avLst/>
              <a:gdLst/>
              <a:ahLst/>
              <a:cxnLst/>
              <a:rect r="r" b="b" t="t" l="l"/>
              <a:pathLst>
                <a:path h="2928366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928366"/>
                  </a:lnTo>
                  <a:lnTo>
                    <a:pt x="0" y="2928366"/>
                  </a:lnTo>
                  <a:close/>
                </a:path>
              </a:pathLst>
            </a:custGeom>
            <a:solidFill>
              <a:srgbClr val="2F67D8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514456" y="2736161"/>
            <a:ext cx="4314882" cy="40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3203D"/>
                </a:solidFill>
                <a:latin typeface="Aptos Bold"/>
                <a:ea typeface="Aptos Bold"/>
                <a:cs typeface="Aptos Bold"/>
                <a:sym typeface="Aptos Bold"/>
              </a:rPr>
              <a:t>Raw records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14456" y="3312681"/>
            <a:ext cx="4287431" cy="1189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2"/>
              </a:lnSpc>
            </a:pPr>
            <a:r>
              <a:rPr lang="en-US" sz="3152">
                <a:solidFill>
                  <a:srgbClr val="283040"/>
                </a:solidFill>
                <a:latin typeface="Aptos"/>
                <a:ea typeface="Aptos"/>
                <a:cs typeface="Aptos"/>
                <a:sym typeface="Aptos"/>
              </a:rPr>
              <a:t>4,803 movies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650307" y="2463660"/>
            <a:ext cx="5024552" cy="2210572"/>
            <a:chOff x="0" y="0"/>
            <a:chExt cx="6699402" cy="294742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699377" cy="2947416"/>
            </a:xfrm>
            <a:custGeom>
              <a:avLst/>
              <a:gdLst/>
              <a:ahLst/>
              <a:cxnLst/>
              <a:rect r="r" b="b" t="t" l="l"/>
              <a:pathLst>
                <a:path h="2947416" w="6699377">
                  <a:moveTo>
                    <a:pt x="0" y="491236"/>
                  </a:moveTo>
                  <a:cubicBezTo>
                    <a:pt x="0" y="219964"/>
                    <a:pt x="219964" y="0"/>
                    <a:pt x="491236" y="0"/>
                  </a:cubicBezTo>
                  <a:lnTo>
                    <a:pt x="6208141" y="0"/>
                  </a:lnTo>
                  <a:cubicBezTo>
                    <a:pt x="6479413" y="0"/>
                    <a:pt x="6699377" y="219964"/>
                    <a:pt x="6699377" y="491236"/>
                  </a:cubicBezTo>
                  <a:lnTo>
                    <a:pt x="6699377" y="2456180"/>
                  </a:lnTo>
                  <a:cubicBezTo>
                    <a:pt x="6699377" y="2727452"/>
                    <a:pt x="6479413" y="2947416"/>
                    <a:pt x="6208141" y="2947416"/>
                  </a:cubicBezTo>
                  <a:lnTo>
                    <a:pt x="491236" y="2947416"/>
                  </a:lnTo>
                  <a:cubicBezTo>
                    <a:pt x="219964" y="2947416"/>
                    <a:pt x="0" y="2727452"/>
                    <a:pt x="0" y="245618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CE3EE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657461" y="2470814"/>
            <a:ext cx="137265" cy="2196274"/>
            <a:chOff x="0" y="0"/>
            <a:chExt cx="183020" cy="292836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3007" cy="2928366"/>
            </a:xfrm>
            <a:custGeom>
              <a:avLst/>
              <a:gdLst/>
              <a:ahLst/>
              <a:cxnLst/>
              <a:rect r="r" b="b" t="t" l="l"/>
              <a:pathLst>
                <a:path h="2928366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928366"/>
                  </a:lnTo>
                  <a:lnTo>
                    <a:pt x="0" y="2928366"/>
                  </a:lnTo>
                  <a:close/>
                </a:path>
              </a:pathLst>
            </a:custGeom>
            <a:solidFill>
              <a:srgbClr val="18A699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7073779" y="2736161"/>
            <a:ext cx="4314882" cy="40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3203D"/>
                </a:solidFill>
                <a:latin typeface="Aptos Bold"/>
                <a:ea typeface="Aptos Bold"/>
                <a:cs typeface="Aptos Bold"/>
                <a:sym typeface="Aptos Bold"/>
              </a:rPr>
              <a:t>Rows used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073779" y="3312681"/>
            <a:ext cx="4287431" cy="1189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83040"/>
                </a:solidFill>
                <a:latin typeface="Aptos"/>
                <a:ea typeface="Aptos"/>
                <a:cs typeface="Aptos"/>
                <a:sym typeface="Aptos"/>
              </a:rPr>
              <a:t>3,376 after preprocessing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209631" y="2463660"/>
            <a:ext cx="5024552" cy="2210572"/>
            <a:chOff x="0" y="0"/>
            <a:chExt cx="6699402" cy="294742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699377" cy="2947416"/>
            </a:xfrm>
            <a:custGeom>
              <a:avLst/>
              <a:gdLst/>
              <a:ahLst/>
              <a:cxnLst/>
              <a:rect r="r" b="b" t="t" l="l"/>
              <a:pathLst>
                <a:path h="2947416" w="6699377">
                  <a:moveTo>
                    <a:pt x="0" y="491236"/>
                  </a:moveTo>
                  <a:cubicBezTo>
                    <a:pt x="0" y="219964"/>
                    <a:pt x="219964" y="0"/>
                    <a:pt x="491236" y="0"/>
                  </a:cubicBezTo>
                  <a:lnTo>
                    <a:pt x="6208141" y="0"/>
                  </a:lnTo>
                  <a:cubicBezTo>
                    <a:pt x="6479413" y="0"/>
                    <a:pt x="6699377" y="219964"/>
                    <a:pt x="6699377" y="491236"/>
                  </a:cubicBezTo>
                  <a:lnTo>
                    <a:pt x="6699377" y="2456180"/>
                  </a:lnTo>
                  <a:cubicBezTo>
                    <a:pt x="6699377" y="2727452"/>
                    <a:pt x="6479413" y="2947416"/>
                    <a:pt x="6208141" y="2947416"/>
                  </a:cubicBezTo>
                  <a:lnTo>
                    <a:pt x="491236" y="2947416"/>
                  </a:lnTo>
                  <a:cubicBezTo>
                    <a:pt x="219964" y="2947416"/>
                    <a:pt x="0" y="2727452"/>
                    <a:pt x="0" y="245618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CE3EE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2216784" y="2470814"/>
            <a:ext cx="137265" cy="2196274"/>
            <a:chOff x="0" y="0"/>
            <a:chExt cx="183020" cy="292836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83007" cy="2928366"/>
            </a:xfrm>
            <a:custGeom>
              <a:avLst/>
              <a:gdLst/>
              <a:ahLst/>
              <a:cxnLst/>
              <a:rect r="r" b="b" t="t" l="l"/>
              <a:pathLst>
                <a:path h="2928366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928366"/>
                  </a:lnTo>
                  <a:lnTo>
                    <a:pt x="0" y="2928366"/>
                  </a:lnTo>
                  <a:close/>
                </a:path>
              </a:pathLst>
            </a:custGeom>
            <a:solidFill>
              <a:srgbClr val="F59D42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2633103" y="2736161"/>
            <a:ext cx="4314882" cy="40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3203D"/>
                </a:solidFill>
                <a:latin typeface="Aptos Bold"/>
                <a:ea typeface="Aptos Bold"/>
                <a:cs typeface="Aptos Bold"/>
                <a:sym typeface="Aptos Bold"/>
              </a:rPr>
              <a:t>Target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633103" y="3312681"/>
            <a:ext cx="4287431" cy="1189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2"/>
              </a:lnSpc>
            </a:pPr>
            <a:r>
              <a:rPr lang="en-US" sz="3152">
                <a:solidFill>
                  <a:srgbClr val="283040"/>
                </a:solidFill>
                <a:latin typeface="Aptos"/>
                <a:ea typeface="Aptos"/>
                <a:cs typeface="Aptos"/>
                <a:sym typeface="Aptos"/>
              </a:rPr>
              <a:t>Revenue (USD)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08554" y="5399141"/>
            <a:ext cx="15639431" cy="6634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83040"/>
                </a:solidFill>
                <a:latin typeface="Aptos"/>
                <a:ea typeface="Aptos"/>
                <a:cs typeface="Aptos"/>
                <a:sym typeface="Aptos"/>
              </a:rPr>
              <a:t>•  Numerical features: budget, runtime, release year, month and quarter.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83040"/>
                </a:solidFill>
                <a:latin typeface="Aptos"/>
                <a:ea typeface="Aptos"/>
                <a:cs typeface="Aptos"/>
                <a:sym typeface="Aptos"/>
              </a:rPr>
              <a:t>•  Categorical features: genre and original language.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83040"/>
                </a:solidFill>
                <a:latin typeface="Aptos"/>
                <a:ea typeface="Aptos"/>
                <a:cs typeface="Aptos"/>
                <a:sym typeface="Aptos"/>
              </a:rPr>
              <a:t>•  Target variable: movie revenue.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83040"/>
                </a:solidFill>
                <a:latin typeface="Aptos"/>
                <a:ea typeface="Aptos"/>
                <a:cs typeface="Aptos"/>
                <a:sym typeface="Aptos"/>
              </a:rPr>
              <a:t>•  Data is split into training, validation and test sets.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92176"/>
            <a:chOff x="0" y="0"/>
            <a:chExt cx="24402453" cy="2562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256286"/>
            </a:xfrm>
            <a:custGeom>
              <a:avLst/>
              <a:gdLst/>
              <a:ahLst/>
              <a:cxnLst/>
              <a:rect r="r" b="b" t="t" l="l"/>
              <a:pathLst>
                <a:path h="256286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18A699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65387" y="631765"/>
            <a:ext cx="16325764" cy="713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13203D"/>
                </a:solidFill>
                <a:latin typeface="Aptos Bold"/>
                <a:ea typeface="Aptos Bold"/>
                <a:cs typeface="Aptos Bold"/>
                <a:sym typeface="Aptos Bold"/>
              </a:rPr>
              <a:t>Data Preparation &amp; Feature Engineering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06573" y="1459573"/>
            <a:ext cx="16051235" cy="475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D697B"/>
                </a:solidFill>
                <a:latin typeface="Aptos"/>
                <a:ea typeface="Aptos"/>
                <a:cs typeface="Aptos"/>
                <a:sym typeface="Aptos"/>
              </a:rPr>
              <a:t>Convert raw metadata into model-ready features.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819759" y="9713538"/>
            <a:ext cx="540029" cy="21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5D697B"/>
                </a:solidFill>
                <a:latin typeface="Aptos Bold"/>
                <a:ea typeface="Aptos Bold"/>
                <a:cs typeface="Aptos Bold"/>
                <a:sym typeface="Aptos Bold"/>
              </a:rPr>
              <a:t>06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2356" y="2395023"/>
            <a:ext cx="5093189" cy="2073307"/>
            <a:chOff x="0" y="0"/>
            <a:chExt cx="6790919" cy="27644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790944" cy="2764409"/>
            </a:xfrm>
            <a:custGeom>
              <a:avLst/>
              <a:gdLst/>
              <a:ahLst/>
              <a:cxnLst/>
              <a:rect r="r" b="b" t="t" l="l"/>
              <a:pathLst>
                <a:path h="2764409" w="6790944">
                  <a:moveTo>
                    <a:pt x="0" y="460756"/>
                  </a:moveTo>
                  <a:cubicBezTo>
                    <a:pt x="0" y="206248"/>
                    <a:pt x="206248" y="0"/>
                    <a:pt x="460756" y="0"/>
                  </a:cubicBezTo>
                  <a:lnTo>
                    <a:pt x="6330188" y="0"/>
                  </a:lnTo>
                  <a:cubicBezTo>
                    <a:pt x="6584696" y="0"/>
                    <a:pt x="6790944" y="206248"/>
                    <a:pt x="6790944" y="460756"/>
                  </a:cubicBezTo>
                  <a:lnTo>
                    <a:pt x="6790944" y="2303653"/>
                  </a:lnTo>
                  <a:cubicBezTo>
                    <a:pt x="6790944" y="2558161"/>
                    <a:pt x="6584696" y="2764409"/>
                    <a:pt x="6330188" y="2764409"/>
                  </a:cubicBezTo>
                  <a:lnTo>
                    <a:pt x="460756" y="2764409"/>
                  </a:lnTo>
                  <a:cubicBezTo>
                    <a:pt x="206248" y="2764409"/>
                    <a:pt x="0" y="2558161"/>
                    <a:pt x="0" y="2303653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CE3EE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029500" y="2402176"/>
            <a:ext cx="137265" cy="2059010"/>
            <a:chOff x="0" y="0"/>
            <a:chExt cx="183020" cy="274534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3007" cy="2745359"/>
            </a:xfrm>
            <a:custGeom>
              <a:avLst/>
              <a:gdLst/>
              <a:ahLst/>
              <a:cxnLst/>
              <a:rect r="r" b="b" t="t" l="l"/>
              <a:pathLst>
                <a:path h="2745359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745359"/>
                  </a:lnTo>
                  <a:lnTo>
                    <a:pt x="0" y="2745359"/>
                  </a:lnTo>
                  <a:close/>
                </a:path>
              </a:pathLst>
            </a:custGeom>
            <a:solidFill>
              <a:srgbClr val="2F67D8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445828" y="2667524"/>
            <a:ext cx="4383519" cy="40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3203D"/>
                </a:solidFill>
                <a:latin typeface="Aptos Bold"/>
                <a:ea typeface="Aptos Bold"/>
                <a:cs typeface="Aptos Bold"/>
                <a:sym typeface="Aptos Bold"/>
              </a:rPr>
              <a:t>1. Load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45828" y="3234519"/>
            <a:ext cx="4356059" cy="1061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283040"/>
                </a:solidFill>
                <a:latin typeface="Aptos"/>
                <a:ea typeface="Aptos"/>
                <a:cs typeface="Aptos"/>
                <a:sym typeface="Aptos"/>
              </a:rPr>
              <a:t>Read the real CSV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718945" y="2395023"/>
            <a:ext cx="5093189" cy="2073307"/>
            <a:chOff x="0" y="0"/>
            <a:chExt cx="6790919" cy="276440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790944" cy="2764409"/>
            </a:xfrm>
            <a:custGeom>
              <a:avLst/>
              <a:gdLst/>
              <a:ahLst/>
              <a:cxnLst/>
              <a:rect r="r" b="b" t="t" l="l"/>
              <a:pathLst>
                <a:path h="2764409" w="6790944">
                  <a:moveTo>
                    <a:pt x="0" y="460756"/>
                  </a:moveTo>
                  <a:cubicBezTo>
                    <a:pt x="0" y="206248"/>
                    <a:pt x="206248" y="0"/>
                    <a:pt x="460756" y="0"/>
                  </a:cubicBezTo>
                  <a:lnTo>
                    <a:pt x="6330188" y="0"/>
                  </a:lnTo>
                  <a:cubicBezTo>
                    <a:pt x="6584696" y="0"/>
                    <a:pt x="6790944" y="206248"/>
                    <a:pt x="6790944" y="460756"/>
                  </a:cubicBezTo>
                  <a:lnTo>
                    <a:pt x="6790944" y="2303653"/>
                  </a:lnTo>
                  <a:cubicBezTo>
                    <a:pt x="6790944" y="2558161"/>
                    <a:pt x="6584696" y="2764409"/>
                    <a:pt x="6330188" y="2764409"/>
                  </a:cubicBezTo>
                  <a:lnTo>
                    <a:pt x="460756" y="2764409"/>
                  </a:lnTo>
                  <a:cubicBezTo>
                    <a:pt x="206248" y="2764409"/>
                    <a:pt x="0" y="2558161"/>
                    <a:pt x="0" y="2303653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CE3EE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726098" y="2402176"/>
            <a:ext cx="137265" cy="2059010"/>
            <a:chOff x="0" y="0"/>
            <a:chExt cx="183020" cy="274534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3007" cy="2745359"/>
            </a:xfrm>
            <a:custGeom>
              <a:avLst/>
              <a:gdLst/>
              <a:ahLst/>
              <a:cxnLst/>
              <a:rect r="r" b="b" t="t" l="l"/>
              <a:pathLst>
                <a:path h="2745359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745359"/>
                  </a:lnTo>
                  <a:lnTo>
                    <a:pt x="0" y="2745359"/>
                  </a:lnTo>
                  <a:close/>
                </a:path>
              </a:pathLst>
            </a:custGeom>
            <a:solidFill>
              <a:srgbClr val="18A699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7142416" y="2667524"/>
            <a:ext cx="4383519" cy="40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3203D"/>
                </a:solidFill>
                <a:latin typeface="Aptos Bold"/>
                <a:ea typeface="Aptos Bold"/>
                <a:cs typeface="Aptos Bold"/>
                <a:sym typeface="Aptos Bold"/>
              </a:rPr>
              <a:t>2. Clean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142416" y="3234519"/>
            <a:ext cx="4356059" cy="1061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283040"/>
                </a:solidFill>
                <a:latin typeface="Aptos"/>
                <a:ea typeface="Aptos"/>
                <a:cs typeface="Aptos"/>
                <a:sym typeface="Aptos"/>
              </a:rPr>
              <a:t>Handle missing/unusable values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415533" y="2395023"/>
            <a:ext cx="5093189" cy="2073307"/>
            <a:chOff x="0" y="0"/>
            <a:chExt cx="6790919" cy="276440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790944" cy="2764409"/>
            </a:xfrm>
            <a:custGeom>
              <a:avLst/>
              <a:gdLst/>
              <a:ahLst/>
              <a:cxnLst/>
              <a:rect r="r" b="b" t="t" l="l"/>
              <a:pathLst>
                <a:path h="2764409" w="6790944">
                  <a:moveTo>
                    <a:pt x="0" y="460756"/>
                  </a:moveTo>
                  <a:cubicBezTo>
                    <a:pt x="0" y="206248"/>
                    <a:pt x="206248" y="0"/>
                    <a:pt x="460756" y="0"/>
                  </a:cubicBezTo>
                  <a:lnTo>
                    <a:pt x="6330188" y="0"/>
                  </a:lnTo>
                  <a:cubicBezTo>
                    <a:pt x="6584696" y="0"/>
                    <a:pt x="6790944" y="206248"/>
                    <a:pt x="6790944" y="460756"/>
                  </a:cubicBezTo>
                  <a:lnTo>
                    <a:pt x="6790944" y="2303653"/>
                  </a:lnTo>
                  <a:cubicBezTo>
                    <a:pt x="6790944" y="2558161"/>
                    <a:pt x="6584696" y="2764409"/>
                    <a:pt x="6330188" y="2764409"/>
                  </a:cubicBezTo>
                  <a:lnTo>
                    <a:pt x="460756" y="2764409"/>
                  </a:lnTo>
                  <a:cubicBezTo>
                    <a:pt x="206248" y="2764409"/>
                    <a:pt x="0" y="2558161"/>
                    <a:pt x="0" y="2303653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CE3EE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2422686" y="2402176"/>
            <a:ext cx="137265" cy="2059010"/>
            <a:chOff x="0" y="0"/>
            <a:chExt cx="183020" cy="274534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83007" cy="2745359"/>
            </a:xfrm>
            <a:custGeom>
              <a:avLst/>
              <a:gdLst/>
              <a:ahLst/>
              <a:cxnLst/>
              <a:rect r="r" b="b" t="t" l="l"/>
              <a:pathLst>
                <a:path h="2745359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745359"/>
                  </a:lnTo>
                  <a:lnTo>
                    <a:pt x="0" y="2745359"/>
                  </a:lnTo>
                  <a:close/>
                </a:path>
              </a:pathLst>
            </a:custGeom>
            <a:solidFill>
              <a:srgbClr val="F59D42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2839005" y="2667524"/>
            <a:ext cx="4383519" cy="40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3203D"/>
                </a:solidFill>
                <a:latin typeface="Aptos Bold"/>
                <a:ea typeface="Aptos Bold"/>
                <a:cs typeface="Aptos Bold"/>
                <a:sym typeface="Aptos Bold"/>
              </a:rPr>
              <a:t>3. Encode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839005" y="3234519"/>
            <a:ext cx="4356059" cy="1061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283040"/>
                </a:solidFill>
                <a:latin typeface="Aptos"/>
                <a:ea typeface="Aptos"/>
                <a:cs typeface="Aptos"/>
                <a:sym typeface="Aptos"/>
              </a:rPr>
              <a:t>Represent categories numerically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022356" y="5277641"/>
            <a:ext cx="5093189" cy="2073307"/>
            <a:chOff x="0" y="0"/>
            <a:chExt cx="6790919" cy="276440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790944" cy="2764409"/>
            </a:xfrm>
            <a:custGeom>
              <a:avLst/>
              <a:gdLst/>
              <a:ahLst/>
              <a:cxnLst/>
              <a:rect r="r" b="b" t="t" l="l"/>
              <a:pathLst>
                <a:path h="2764409" w="6790944">
                  <a:moveTo>
                    <a:pt x="0" y="460756"/>
                  </a:moveTo>
                  <a:cubicBezTo>
                    <a:pt x="0" y="206248"/>
                    <a:pt x="206248" y="0"/>
                    <a:pt x="460756" y="0"/>
                  </a:cubicBezTo>
                  <a:lnTo>
                    <a:pt x="6330188" y="0"/>
                  </a:lnTo>
                  <a:cubicBezTo>
                    <a:pt x="6584696" y="0"/>
                    <a:pt x="6790944" y="206248"/>
                    <a:pt x="6790944" y="460756"/>
                  </a:cubicBezTo>
                  <a:lnTo>
                    <a:pt x="6790944" y="2303653"/>
                  </a:lnTo>
                  <a:cubicBezTo>
                    <a:pt x="6790944" y="2558161"/>
                    <a:pt x="6584696" y="2764409"/>
                    <a:pt x="6330188" y="2764409"/>
                  </a:cubicBezTo>
                  <a:lnTo>
                    <a:pt x="460756" y="2764409"/>
                  </a:lnTo>
                  <a:cubicBezTo>
                    <a:pt x="206248" y="2764409"/>
                    <a:pt x="0" y="2558161"/>
                    <a:pt x="0" y="2303653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CE3EE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029500" y="5284784"/>
            <a:ext cx="137265" cy="2059010"/>
            <a:chOff x="0" y="0"/>
            <a:chExt cx="183020" cy="274534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83007" cy="2745359"/>
            </a:xfrm>
            <a:custGeom>
              <a:avLst/>
              <a:gdLst/>
              <a:ahLst/>
              <a:cxnLst/>
              <a:rect r="r" b="b" t="t" l="l"/>
              <a:pathLst>
                <a:path h="2745359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745359"/>
                  </a:lnTo>
                  <a:lnTo>
                    <a:pt x="0" y="2745359"/>
                  </a:lnTo>
                  <a:close/>
                </a:path>
              </a:pathLst>
            </a:custGeom>
            <a:solidFill>
              <a:srgbClr val="2F67D8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445828" y="5550132"/>
            <a:ext cx="4383519" cy="40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3203D"/>
                </a:solidFill>
                <a:latin typeface="Aptos Bold"/>
                <a:ea typeface="Aptos Bold"/>
                <a:cs typeface="Aptos Bold"/>
                <a:sym typeface="Aptos Bold"/>
              </a:rPr>
              <a:t>4. Engineer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45828" y="6117136"/>
            <a:ext cx="4356059" cy="1061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283040"/>
                </a:solidFill>
                <a:latin typeface="Aptos"/>
                <a:ea typeface="Aptos"/>
                <a:cs typeface="Aptos"/>
                <a:sym typeface="Aptos"/>
              </a:rPr>
              <a:t>log_budget and cyclical month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6718945" y="5277641"/>
            <a:ext cx="5093189" cy="2073307"/>
            <a:chOff x="0" y="0"/>
            <a:chExt cx="6790919" cy="276440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790944" cy="2764409"/>
            </a:xfrm>
            <a:custGeom>
              <a:avLst/>
              <a:gdLst/>
              <a:ahLst/>
              <a:cxnLst/>
              <a:rect r="r" b="b" t="t" l="l"/>
              <a:pathLst>
                <a:path h="2764409" w="6790944">
                  <a:moveTo>
                    <a:pt x="0" y="460756"/>
                  </a:moveTo>
                  <a:cubicBezTo>
                    <a:pt x="0" y="206248"/>
                    <a:pt x="206248" y="0"/>
                    <a:pt x="460756" y="0"/>
                  </a:cubicBezTo>
                  <a:lnTo>
                    <a:pt x="6330188" y="0"/>
                  </a:lnTo>
                  <a:cubicBezTo>
                    <a:pt x="6584696" y="0"/>
                    <a:pt x="6790944" y="206248"/>
                    <a:pt x="6790944" y="460756"/>
                  </a:cubicBezTo>
                  <a:lnTo>
                    <a:pt x="6790944" y="2303653"/>
                  </a:lnTo>
                  <a:cubicBezTo>
                    <a:pt x="6790944" y="2558161"/>
                    <a:pt x="6584696" y="2764409"/>
                    <a:pt x="6330188" y="2764409"/>
                  </a:cubicBezTo>
                  <a:lnTo>
                    <a:pt x="460756" y="2764409"/>
                  </a:lnTo>
                  <a:cubicBezTo>
                    <a:pt x="206248" y="2764409"/>
                    <a:pt x="0" y="2558161"/>
                    <a:pt x="0" y="2303653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CE3EE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6726098" y="5284784"/>
            <a:ext cx="137265" cy="2059010"/>
            <a:chOff x="0" y="0"/>
            <a:chExt cx="183020" cy="274534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83007" cy="2745359"/>
            </a:xfrm>
            <a:custGeom>
              <a:avLst/>
              <a:gdLst/>
              <a:ahLst/>
              <a:cxnLst/>
              <a:rect r="r" b="b" t="t" l="l"/>
              <a:pathLst>
                <a:path h="2745359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745359"/>
                  </a:lnTo>
                  <a:lnTo>
                    <a:pt x="0" y="2745359"/>
                  </a:lnTo>
                  <a:close/>
                </a:path>
              </a:pathLst>
            </a:custGeom>
            <a:solidFill>
              <a:srgbClr val="18A699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7142416" y="5550132"/>
            <a:ext cx="4383519" cy="40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3203D"/>
                </a:solidFill>
                <a:latin typeface="Aptos Bold"/>
                <a:ea typeface="Aptos Bold"/>
                <a:cs typeface="Aptos Bold"/>
                <a:sym typeface="Aptos Bold"/>
              </a:rPr>
              <a:t>5. Transform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142416" y="6117136"/>
            <a:ext cx="4356059" cy="1061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283040"/>
                </a:solidFill>
                <a:latin typeface="Aptos"/>
                <a:ea typeface="Aptos"/>
                <a:cs typeface="Aptos"/>
                <a:sym typeface="Aptos"/>
              </a:rPr>
              <a:t>log1p revenue target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2415533" y="5277641"/>
            <a:ext cx="5093189" cy="2073307"/>
            <a:chOff x="0" y="0"/>
            <a:chExt cx="6790919" cy="276440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790944" cy="2764409"/>
            </a:xfrm>
            <a:custGeom>
              <a:avLst/>
              <a:gdLst/>
              <a:ahLst/>
              <a:cxnLst/>
              <a:rect r="r" b="b" t="t" l="l"/>
              <a:pathLst>
                <a:path h="2764409" w="6790944">
                  <a:moveTo>
                    <a:pt x="0" y="460756"/>
                  </a:moveTo>
                  <a:cubicBezTo>
                    <a:pt x="0" y="206248"/>
                    <a:pt x="206248" y="0"/>
                    <a:pt x="460756" y="0"/>
                  </a:cubicBezTo>
                  <a:lnTo>
                    <a:pt x="6330188" y="0"/>
                  </a:lnTo>
                  <a:cubicBezTo>
                    <a:pt x="6584696" y="0"/>
                    <a:pt x="6790944" y="206248"/>
                    <a:pt x="6790944" y="460756"/>
                  </a:cubicBezTo>
                  <a:lnTo>
                    <a:pt x="6790944" y="2303653"/>
                  </a:lnTo>
                  <a:cubicBezTo>
                    <a:pt x="6790944" y="2558161"/>
                    <a:pt x="6584696" y="2764409"/>
                    <a:pt x="6330188" y="2764409"/>
                  </a:cubicBezTo>
                  <a:lnTo>
                    <a:pt x="460756" y="2764409"/>
                  </a:lnTo>
                  <a:cubicBezTo>
                    <a:pt x="206248" y="2764409"/>
                    <a:pt x="0" y="2558161"/>
                    <a:pt x="0" y="2303653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CE3EE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2422686" y="5284784"/>
            <a:ext cx="137265" cy="2059010"/>
            <a:chOff x="0" y="0"/>
            <a:chExt cx="183020" cy="274534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83007" cy="2745359"/>
            </a:xfrm>
            <a:custGeom>
              <a:avLst/>
              <a:gdLst/>
              <a:ahLst/>
              <a:cxnLst/>
              <a:rect r="r" b="b" t="t" l="l"/>
              <a:pathLst>
                <a:path h="2745359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745359"/>
                  </a:lnTo>
                  <a:lnTo>
                    <a:pt x="0" y="2745359"/>
                  </a:lnTo>
                  <a:close/>
                </a:path>
              </a:pathLst>
            </a:custGeom>
            <a:solidFill>
              <a:srgbClr val="F59D42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12839005" y="5550132"/>
            <a:ext cx="4383519" cy="40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3203D"/>
                </a:solidFill>
                <a:latin typeface="Aptos Bold"/>
                <a:ea typeface="Aptos Bold"/>
                <a:cs typeface="Aptos Bold"/>
                <a:sym typeface="Aptos Bold"/>
              </a:rPr>
              <a:t>6. Split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839005" y="6117136"/>
            <a:ext cx="4356059" cy="1061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283040"/>
                </a:solidFill>
                <a:latin typeface="Aptos"/>
                <a:ea typeface="Aptos"/>
                <a:cs typeface="Aptos"/>
                <a:sym typeface="Aptos"/>
              </a:rPr>
              <a:t>Train / validation / test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445828" y="8693553"/>
            <a:ext cx="14953088" cy="40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>
                <a:solidFill>
                  <a:srgbClr val="5D697B"/>
                </a:solidFill>
                <a:latin typeface="Aptos"/>
                <a:ea typeface="Aptos"/>
                <a:cs typeface="Aptos"/>
                <a:sym typeface="Aptos"/>
              </a:rPr>
              <a:t>month_sin and month_cos represent the circular nature of calendar months.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92176"/>
            <a:chOff x="0" y="0"/>
            <a:chExt cx="24402453" cy="2562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256286"/>
            </a:xfrm>
            <a:custGeom>
              <a:avLst/>
              <a:gdLst/>
              <a:ahLst/>
              <a:cxnLst/>
              <a:rect r="r" b="b" t="t" l="l"/>
              <a:pathLst>
                <a:path h="256286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18A699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65387" y="631765"/>
            <a:ext cx="16325764" cy="713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13203D"/>
                </a:solidFill>
                <a:latin typeface="Aptos Bold"/>
                <a:ea typeface="Aptos Bold"/>
                <a:cs typeface="Aptos Bold"/>
                <a:sym typeface="Aptos Bold"/>
              </a:rPr>
              <a:t>Main Algorithm: Elastic Net Regression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06573" y="1459573"/>
            <a:ext cx="16051235" cy="475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D697B"/>
                </a:solidFill>
                <a:latin typeface="Aptos"/>
                <a:ea typeface="Aptos"/>
                <a:cs typeface="Aptos"/>
                <a:sym typeface="Aptos"/>
              </a:rPr>
              <a:t>Combines L1 and L2 regularization.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819759" y="9713538"/>
            <a:ext cx="540029" cy="21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5D697B"/>
                </a:solidFill>
                <a:latin typeface="Aptos Bold"/>
                <a:ea typeface="Aptos Bold"/>
                <a:cs typeface="Aptos Bold"/>
                <a:sym typeface="Aptos Bold"/>
              </a:rPr>
              <a:t>07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59621" y="2395023"/>
            <a:ext cx="7495365" cy="2759640"/>
            <a:chOff x="0" y="0"/>
            <a:chExt cx="9993820" cy="3679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993884" cy="3679571"/>
            </a:xfrm>
            <a:custGeom>
              <a:avLst/>
              <a:gdLst/>
              <a:ahLst/>
              <a:cxnLst/>
              <a:rect r="r" b="b" t="t" l="l"/>
              <a:pathLst>
                <a:path h="3679571" w="9993884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9380601" y="0"/>
                  </a:lnTo>
                  <a:cubicBezTo>
                    <a:pt x="9719310" y="0"/>
                    <a:pt x="9993884" y="274574"/>
                    <a:pt x="9993884" y="613283"/>
                  </a:cubicBezTo>
                  <a:lnTo>
                    <a:pt x="9993884" y="3066288"/>
                  </a:lnTo>
                  <a:cubicBezTo>
                    <a:pt x="9993884" y="3404997"/>
                    <a:pt x="9719310" y="3679571"/>
                    <a:pt x="9380601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CE3EE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166774" y="2402176"/>
            <a:ext cx="137265" cy="2745343"/>
            <a:chOff x="0" y="0"/>
            <a:chExt cx="183020" cy="36604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3007" cy="3660521"/>
            </a:xfrm>
            <a:custGeom>
              <a:avLst/>
              <a:gdLst/>
              <a:ahLst/>
              <a:cxnLst/>
              <a:rect r="r" b="b" t="t" l="l"/>
              <a:pathLst>
                <a:path h="3660521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3660521"/>
                  </a:lnTo>
                  <a:lnTo>
                    <a:pt x="0" y="3660521"/>
                  </a:lnTo>
                  <a:close/>
                </a:path>
              </a:pathLst>
            </a:custGeom>
            <a:solidFill>
              <a:srgbClr val="2F67D8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583093" y="2667524"/>
            <a:ext cx="6785696" cy="40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3203D"/>
                </a:solidFill>
                <a:latin typeface="Aptos Bold"/>
                <a:ea typeface="Aptos Bold"/>
                <a:cs typeface="Aptos Bold"/>
                <a:sym typeface="Aptos Bold"/>
              </a:rPr>
              <a:t>L1 — Lasso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83093" y="3244044"/>
            <a:ext cx="6758235" cy="1738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83040"/>
                </a:solidFill>
                <a:latin typeface="Aptos"/>
                <a:ea typeface="Aptos"/>
                <a:cs typeface="Aptos"/>
                <a:sym typeface="Aptos"/>
              </a:rPr>
              <a:t>Can shrink less useful feature coefficients to zero, encouraging feature selection.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601562" y="2395023"/>
            <a:ext cx="7495365" cy="2759640"/>
            <a:chOff x="0" y="0"/>
            <a:chExt cx="9993820" cy="3679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993884" cy="3679571"/>
            </a:xfrm>
            <a:custGeom>
              <a:avLst/>
              <a:gdLst/>
              <a:ahLst/>
              <a:cxnLst/>
              <a:rect r="r" b="b" t="t" l="l"/>
              <a:pathLst>
                <a:path h="3679571" w="9993884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9380601" y="0"/>
                  </a:lnTo>
                  <a:cubicBezTo>
                    <a:pt x="9719310" y="0"/>
                    <a:pt x="9993884" y="274574"/>
                    <a:pt x="9993884" y="613283"/>
                  </a:cubicBezTo>
                  <a:lnTo>
                    <a:pt x="9993884" y="3066288"/>
                  </a:lnTo>
                  <a:cubicBezTo>
                    <a:pt x="9993884" y="3404997"/>
                    <a:pt x="9719310" y="3679571"/>
                    <a:pt x="9380601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CE3EE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9608706" y="2402176"/>
            <a:ext cx="137265" cy="2745343"/>
            <a:chOff x="0" y="0"/>
            <a:chExt cx="183020" cy="366045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3007" cy="3660521"/>
            </a:xfrm>
            <a:custGeom>
              <a:avLst/>
              <a:gdLst/>
              <a:ahLst/>
              <a:cxnLst/>
              <a:rect r="r" b="b" t="t" l="l"/>
              <a:pathLst>
                <a:path h="3660521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3660521"/>
                  </a:lnTo>
                  <a:lnTo>
                    <a:pt x="0" y="3660521"/>
                  </a:lnTo>
                  <a:close/>
                </a:path>
              </a:pathLst>
            </a:custGeom>
            <a:solidFill>
              <a:srgbClr val="18A699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025024" y="2667524"/>
            <a:ext cx="6785696" cy="40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3203D"/>
                </a:solidFill>
                <a:latin typeface="Aptos Bold"/>
                <a:ea typeface="Aptos Bold"/>
                <a:cs typeface="Aptos Bold"/>
                <a:sym typeface="Aptos Bold"/>
              </a:rPr>
              <a:t>L2 — Ridge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025024" y="3244044"/>
            <a:ext cx="6758235" cy="1738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83040"/>
                </a:solidFill>
                <a:latin typeface="Aptos"/>
                <a:ea typeface="Aptos"/>
                <a:cs typeface="Aptos"/>
                <a:sym typeface="Aptos"/>
              </a:rPr>
              <a:t>Shrinks coefficients and helps control model complexity, especially with correlated features.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08554" y="5879573"/>
            <a:ext cx="15639431" cy="88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2551" b="true">
                <a:solidFill>
                  <a:srgbClr val="13203D"/>
                </a:solidFill>
                <a:latin typeface="Aptos Bold"/>
                <a:ea typeface="Aptos Bold"/>
                <a:cs typeface="Aptos Bold"/>
                <a:sym typeface="Aptos Bold"/>
              </a:rPr>
              <a:t>Elastic Net = prediction loss + α × [l1_ratio × L1 penalty + (1 − l1_ratio) × L2 penalty]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08554" y="7183612"/>
            <a:ext cx="15639431" cy="6634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283040"/>
                </a:solidFill>
                <a:latin typeface="Aptos"/>
                <a:ea typeface="Aptos"/>
                <a:cs typeface="Aptos"/>
                <a:sym typeface="Aptos"/>
              </a:rPr>
              <a:t>•  Hyperparameters are selected using validation/cross-validation, not the final test set.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283040"/>
                </a:solidFill>
                <a:latin typeface="Aptos"/>
                <a:ea typeface="Aptos"/>
                <a:cs typeface="Aptos"/>
                <a:sym typeface="Aptos"/>
              </a:rPr>
              <a:t>•  Best settings reported by the run: α = 0.01; L1 ratio = 0.7.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92176"/>
            <a:chOff x="0" y="0"/>
            <a:chExt cx="24402453" cy="2562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256286"/>
            </a:xfrm>
            <a:custGeom>
              <a:avLst/>
              <a:gdLst/>
              <a:ahLst/>
              <a:cxnLst/>
              <a:rect r="r" b="b" t="t" l="l"/>
              <a:pathLst>
                <a:path h="256286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18A699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65387" y="631765"/>
            <a:ext cx="16325764" cy="713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13203D"/>
                </a:solidFill>
                <a:latin typeface="Aptos Bold"/>
                <a:ea typeface="Aptos Bold"/>
                <a:cs typeface="Aptos Bold"/>
                <a:sym typeface="Aptos Bold"/>
              </a:rPr>
              <a:t>Supporting Algorithms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06573" y="1459573"/>
            <a:ext cx="16051235" cy="475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D697B"/>
                </a:solidFill>
                <a:latin typeface="Aptos"/>
                <a:ea typeface="Aptos"/>
                <a:cs typeface="Aptos"/>
                <a:sym typeface="Aptos"/>
              </a:rPr>
              <a:t>Tree models and unsupervised learning.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819759" y="9713538"/>
            <a:ext cx="540029" cy="21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5D697B"/>
                </a:solidFill>
                <a:latin typeface="Aptos Bold"/>
                <a:ea typeface="Aptos Bold"/>
                <a:cs typeface="Aptos Bold"/>
                <a:sym typeface="Aptos Bold"/>
              </a:rPr>
              <a:t>08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53719" y="2326396"/>
            <a:ext cx="8044434" cy="2896914"/>
            <a:chOff x="0" y="0"/>
            <a:chExt cx="10725912" cy="386255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725912" cy="3862578"/>
            </a:xfrm>
            <a:custGeom>
              <a:avLst/>
              <a:gdLst/>
              <a:ahLst/>
              <a:cxnLst/>
              <a:rect r="r" b="b" t="t" l="l"/>
              <a:pathLst>
                <a:path h="3862578" w="10725912">
                  <a:moveTo>
                    <a:pt x="0" y="643763"/>
                  </a:moveTo>
                  <a:cubicBezTo>
                    <a:pt x="0" y="288163"/>
                    <a:pt x="288163" y="0"/>
                    <a:pt x="643763" y="0"/>
                  </a:cubicBezTo>
                  <a:lnTo>
                    <a:pt x="10082149" y="0"/>
                  </a:lnTo>
                  <a:cubicBezTo>
                    <a:pt x="10437749" y="0"/>
                    <a:pt x="10725912" y="288163"/>
                    <a:pt x="10725912" y="643763"/>
                  </a:cubicBezTo>
                  <a:lnTo>
                    <a:pt x="10725912" y="3218815"/>
                  </a:lnTo>
                  <a:cubicBezTo>
                    <a:pt x="10725912" y="3574415"/>
                    <a:pt x="10437749" y="3862578"/>
                    <a:pt x="10082149" y="3862578"/>
                  </a:cubicBezTo>
                  <a:lnTo>
                    <a:pt x="643763" y="3862578"/>
                  </a:lnTo>
                  <a:cubicBezTo>
                    <a:pt x="288163" y="3862578"/>
                    <a:pt x="0" y="3574415"/>
                    <a:pt x="0" y="3218815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CE3EE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960872" y="2333539"/>
            <a:ext cx="137265" cy="2882608"/>
            <a:chOff x="0" y="0"/>
            <a:chExt cx="183020" cy="384347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3007" cy="3843528"/>
            </a:xfrm>
            <a:custGeom>
              <a:avLst/>
              <a:gdLst/>
              <a:ahLst/>
              <a:cxnLst/>
              <a:rect r="r" b="b" t="t" l="l"/>
              <a:pathLst>
                <a:path h="3843528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3843528"/>
                  </a:lnTo>
                  <a:lnTo>
                    <a:pt x="0" y="3843528"/>
                  </a:lnTo>
                  <a:close/>
                </a:path>
              </a:pathLst>
            </a:custGeom>
            <a:solidFill>
              <a:srgbClr val="2F67D8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377191" y="2598887"/>
            <a:ext cx="7334755" cy="40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3203D"/>
                </a:solidFill>
                <a:latin typeface="Aptos Bold"/>
                <a:ea typeface="Aptos Bold"/>
                <a:cs typeface="Aptos Bold"/>
                <a:sym typeface="Aptos Bold"/>
              </a:rPr>
              <a:t>M3 — Regression comparison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77191" y="3175416"/>
            <a:ext cx="7307304" cy="1876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83040"/>
                </a:solidFill>
                <a:latin typeface="Aptos"/>
                <a:ea typeface="Aptos"/>
                <a:cs typeface="Aptos"/>
                <a:sym typeface="Aptos"/>
              </a:rPr>
              <a:t>• Decision Tree Regression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83040"/>
                </a:solidFill>
                <a:latin typeface="Aptos"/>
                <a:ea typeface="Aptos"/>
                <a:cs typeface="Aptos"/>
                <a:sym typeface="Aptos"/>
              </a:rPr>
              <a:t>• Random Forest Regression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83040"/>
                </a:solidFill>
                <a:latin typeface="Aptos"/>
                <a:ea typeface="Aptos"/>
                <a:cs typeface="Aptos"/>
                <a:sym typeface="Aptos"/>
              </a:rPr>
              <a:t>• Gradient Boosting Regression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327023" y="2326396"/>
            <a:ext cx="8044434" cy="2896914"/>
            <a:chOff x="0" y="0"/>
            <a:chExt cx="10725912" cy="386255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725912" cy="3862578"/>
            </a:xfrm>
            <a:custGeom>
              <a:avLst/>
              <a:gdLst/>
              <a:ahLst/>
              <a:cxnLst/>
              <a:rect r="r" b="b" t="t" l="l"/>
              <a:pathLst>
                <a:path h="3862578" w="10725912">
                  <a:moveTo>
                    <a:pt x="0" y="643763"/>
                  </a:moveTo>
                  <a:cubicBezTo>
                    <a:pt x="0" y="288163"/>
                    <a:pt x="288163" y="0"/>
                    <a:pt x="643763" y="0"/>
                  </a:cubicBezTo>
                  <a:lnTo>
                    <a:pt x="10082149" y="0"/>
                  </a:lnTo>
                  <a:cubicBezTo>
                    <a:pt x="10437749" y="0"/>
                    <a:pt x="10725912" y="288163"/>
                    <a:pt x="10725912" y="643763"/>
                  </a:cubicBezTo>
                  <a:lnTo>
                    <a:pt x="10725912" y="3218815"/>
                  </a:lnTo>
                  <a:cubicBezTo>
                    <a:pt x="10725912" y="3574415"/>
                    <a:pt x="10437749" y="3862578"/>
                    <a:pt x="10082149" y="3862578"/>
                  </a:cubicBezTo>
                  <a:lnTo>
                    <a:pt x="643763" y="3862578"/>
                  </a:lnTo>
                  <a:cubicBezTo>
                    <a:pt x="288163" y="3862578"/>
                    <a:pt x="0" y="3574415"/>
                    <a:pt x="0" y="3218815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CE3EE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9334176" y="2333539"/>
            <a:ext cx="137265" cy="2882608"/>
            <a:chOff x="0" y="0"/>
            <a:chExt cx="183020" cy="384347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3007" cy="3843528"/>
            </a:xfrm>
            <a:custGeom>
              <a:avLst/>
              <a:gdLst/>
              <a:ahLst/>
              <a:cxnLst/>
              <a:rect r="r" b="b" t="t" l="l"/>
              <a:pathLst>
                <a:path h="3843528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3843528"/>
                  </a:lnTo>
                  <a:lnTo>
                    <a:pt x="0" y="3843528"/>
                  </a:lnTo>
                  <a:close/>
                </a:path>
              </a:pathLst>
            </a:custGeom>
            <a:solidFill>
              <a:srgbClr val="18A699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750495" y="2598887"/>
            <a:ext cx="7334755" cy="40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3203D"/>
                </a:solidFill>
                <a:latin typeface="Aptos Bold"/>
                <a:ea typeface="Aptos Bold"/>
                <a:cs typeface="Aptos Bold"/>
                <a:sym typeface="Aptos Bold"/>
              </a:rPr>
              <a:t>M4 — Unsupervised analysis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750495" y="3175416"/>
            <a:ext cx="7307304" cy="1876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83040"/>
                </a:solidFill>
                <a:latin typeface="Aptos"/>
                <a:ea typeface="Aptos"/>
                <a:cs typeface="Aptos"/>
                <a:sym typeface="Aptos"/>
              </a:rPr>
              <a:t>• K-Means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83040"/>
                </a:solidFill>
                <a:latin typeface="Aptos"/>
                <a:ea typeface="Aptos"/>
                <a:cs typeface="Aptos"/>
                <a:sym typeface="Aptos"/>
              </a:rPr>
              <a:t>• DBSCAN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83040"/>
                </a:solidFill>
                <a:latin typeface="Aptos"/>
                <a:ea typeface="Aptos"/>
                <a:cs typeface="Aptos"/>
                <a:sym typeface="Aptos"/>
              </a:rPr>
              <a:t>• Principal Component Analysis (PCA)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83040"/>
                </a:solidFill>
                <a:latin typeface="Aptos"/>
                <a:ea typeface="Aptos"/>
                <a:cs typeface="Aptos"/>
                <a:sym typeface="Aptos"/>
              </a:rPr>
              <a:t>• Isolation Forest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45828" y="6291377"/>
            <a:ext cx="14953088" cy="750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2551" b="true">
                <a:solidFill>
                  <a:srgbClr val="13203D"/>
                </a:solidFill>
                <a:latin typeface="Aptos Bold"/>
                <a:ea typeface="Aptos Bold"/>
                <a:cs typeface="Aptos Bold"/>
                <a:sym typeface="Aptos Bold"/>
              </a:rPr>
              <a:t>Elastic Net remains the primary algorithm; other methods extend comparison and data analysis.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51721" y="7311361"/>
            <a:ext cx="14815823" cy="1034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>
                <a:solidFill>
                  <a:srgbClr val="5D697B"/>
                </a:solidFill>
                <a:latin typeface="Aptos"/>
                <a:ea typeface="Aptos"/>
                <a:cs typeface="Aptos"/>
                <a:sym typeface="Aptos"/>
              </a:rPr>
              <a:t>Tree models capture nonlinear patterns; clustering groups records; PCA reduces dimensions; Isolation Forest flags unusual records.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92176"/>
            <a:chOff x="0" y="0"/>
            <a:chExt cx="24402453" cy="2562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256286"/>
            </a:xfrm>
            <a:custGeom>
              <a:avLst/>
              <a:gdLst/>
              <a:ahLst/>
              <a:cxnLst/>
              <a:rect r="r" b="b" t="t" l="l"/>
              <a:pathLst>
                <a:path h="256286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18A699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65387" y="631765"/>
            <a:ext cx="16325764" cy="713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13203D"/>
                </a:solidFill>
                <a:latin typeface="Aptos Bold"/>
                <a:ea typeface="Aptos Bold"/>
                <a:cs typeface="Aptos Bold"/>
                <a:sym typeface="Aptos Bold"/>
              </a:rPr>
              <a:t>Evaluation &amp; Reported Results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06573" y="1459573"/>
            <a:ext cx="16051235" cy="475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D697B"/>
                </a:solidFill>
                <a:latin typeface="Aptos"/>
                <a:ea typeface="Aptos"/>
                <a:cs typeface="Aptos"/>
                <a:sym typeface="Aptos"/>
              </a:rPr>
              <a:t>Interpret metrics in the space in which the model was trained.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819759" y="9713538"/>
            <a:ext cx="540029" cy="21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5D697B"/>
                </a:solidFill>
                <a:latin typeface="Aptos Bold"/>
                <a:ea typeface="Aptos Bold"/>
                <a:cs typeface="Aptos Bold"/>
                <a:sym typeface="Aptos Bold"/>
              </a:rPr>
              <a:t>09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90984" y="2395023"/>
            <a:ext cx="5093189" cy="2073307"/>
            <a:chOff x="0" y="0"/>
            <a:chExt cx="6790919" cy="27644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790944" cy="2764409"/>
            </a:xfrm>
            <a:custGeom>
              <a:avLst/>
              <a:gdLst/>
              <a:ahLst/>
              <a:cxnLst/>
              <a:rect r="r" b="b" t="t" l="l"/>
              <a:pathLst>
                <a:path h="2764409" w="6790944">
                  <a:moveTo>
                    <a:pt x="0" y="460756"/>
                  </a:moveTo>
                  <a:cubicBezTo>
                    <a:pt x="0" y="206248"/>
                    <a:pt x="206248" y="0"/>
                    <a:pt x="460756" y="0"/>
                  </a:cubicBezTo>
                  <a:lnTo>
                    <a:pt x="6330188" y="0"/>
                  </a:lnTo>
                  <a:cubicBezTo>
                    <a:pt x="6584696" y="0"/>
                    <a:pt x="6790944" y="206248"/>
                    <a:pt x="6790944" y="460756"/>
                  </a:cubicBezTo>
                  <a:lnTo>
                    <a:pt x="6790944" y="2303653"/>
                  </a:lnTo>
                  <a:cubicBezTo>
                    <a:pt x="6790944" y="2558161"/>
                    <a:pt x="6584696" y="2764409"/>
                    <a:pt x="6330188" y="2764409"/>
                  </a:cubicBezTo>
                  <a:lnTo>
                    <a:pt x="460756" y="2764409"/>
                  </a:lnTo>
                  <a:cubicBezTo>
                    <a:pt x="206248" y="2764409"/>
                    <a:pt x="0" y="2558161"/>
                    <a:pt x="0" y="2303653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CE3EE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098137" y="2402176"/>
            <a:ext cx="137265" cy="2059010"/>
            <a:chOff x="0" y="0"/>
            <a:chExt cx="183020" cy="274534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3007" cy="2745359"/>
            </a:xfrm>
            <a:custGeom>
              <a:avLst/>
              <a:gdLst/>
              <a:ahLst/>
              <a:cxnLst/>
              <a:rect r="r" b="b" t="t" l="l"/>
              <a:pathLst>
                <a:path h="2745359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745359"/>
                  </a:lnTo>
                  <a:lnTo>
                    <a:pt x="0" y="2745359"/>
                  </a:lnTo>
                  <a:close/>
                </a:path>
              </a:pathLst>
            </a:custGeom>
            <a:solidFill>
              <a:srgbClr val="2F67D8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514456" y="2667524"/>
            <a:ext cx="4383519" cy="40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3203D"/>
                </a:solidFill>
                <a:latin typeface="Aptos Bold"/>
                <a:ea typeface="Aptos Bold"/>
                <a:cs typeface="Aptos Bold"/>
                <a:sym typeface="Aptos Bold"/>
              </a:rPr>
              <a:t>Best α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14456" y="3244044"/>
            <a:ext cx="4356059" cy="1052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2"/>
              </a:lnSpc>
            </a:pPr>
            <a:r>
              <a:rPr lang="en-US" sz="3152">
                <a:solidFill>
                  <a:srgbClr val="283040"/>
                </a:solidFill>
                <a:latin typeface="Aptos"/>
                <a:ea typeface="Aptos"/>
                <a:cs typeface="Aptos"/>
                <a:sym typeface="Aptos"/>
              </a:rPr>
              <a:t>0.01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581680" y="2395023"/>
            <a:ext cx="5093189" cy="2073307"/>
            <a:chOff x="0" y="0"/>
            <a:chExt cx="6790919" cy="276440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790944" cy="2764409"/>
            </a:xfrm>
            <a:custGeom>
              <a:avLst/>
              <a:gdLst/>
              <a:ahLst/>
              <a:cxnLst/>
              <a:rect r="r" b="b" t="t" l="l"/>
              <a:pathLst>
                <a:path h="2764409" w="6790944">
                  <a:moveTo>
                    <a:pt x="0" y="460756"/>
                  </a:moveTo>
                  <a:cubicBezTo>
                    <a:pt x="0" y="206248"/>
                    <a:pt x="206248" y="0"/>
                    <a:pt x="460756" y="0"/>
                  </a:cubicBezTo>
                  <a:lnTo>
                    <a:pt x="6330188" y="0"/>
                  </a:lnTo>
                  <a:cubicBezTo>
                    <a:pt x="6584696" y="0"/>
                    <a:pt x="6790944" y="206248"/>
                    <a:pt x="6790944" y="460756"/>
                  </a:cubicBezTo>
                  <a:lnTo>
                    <a:pt x="6790944" y="2303653"/>
                  </a:lnTo>
                  <a:cubicBezTo>
                    <a:pt x="6790944" y="2558161"/>
                    <a:pt x="6584696" y="2764409"/>
                    <a:pt x="6330188" y="2764409"/>
                  </a:cubicBezTo>
                  <a:lnTo>
                    <a:pt x="460756" y="2764409"/>
                  </a:lnTo>
                  <a:cubicBezTo>
                    <a:pt x="206248" y="2764409"/>
                    <a:pt x="0" y="2558161"/>
                    <a:pt x="0" y="2303653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CE3EE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588824" y="2402176"/>
            <a:ext cx="137265" cy="2059010"/>
            <a:chOff x="0" y="0"/>
            <a:chExt cx="183020" cy="274534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3007" cy="2745359"/>
            </a:xfrm>
            <a:custGeom>
              <a:avLst/>
              <a:gdLst/>
              <a:ahLst/>
              <a:cxnLst/>
              <a:rect r="r" b="b" t="t" l="l"/>
              <a:pathLst>
                <a:path h="2745359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745359"/>
                  </a:lnTo>
                  <a:lnTo>
                    <a:pt x="0" y="2745359"/>
                  </a:lnTo>
                  <a:close/>
                </a:path>
              </a:pathLst>
            </a:custGeom>
            <a:solidFill>
              <a:srgbClr val="18A699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7005152" y="2667524"/>
            <a:ext cx="4383519" cy="40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3203D"/>
                </a:solidFill>
                <a:latin typeface="Aptos Bold"/>
                <a:ea typeface="Aptos Bold"/>
                <a:cs typeface="Aptos Bold"/>
                <a:sym typeface="Aptos Bold"/>
              </a:rPr>
              <a:t>Best L1 ratio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005152" y="3244044"/>
            <a:ext cx="4356059" cy="1052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2"/>
              </a:lnSpc>
            </a:pPr>
            <a:r>
              <a:rPr lang="en-US" sz="3152">
                <a:solidFill>
                  <a:srgbClr val="283040"/>
                </a:solidFill>
                <a:latin typeface="Aptos"/>
                <a:ea typeface="Aptos"/>
                <a:cs typeface="Aptos"/>
                <a:sym typeface="Aptos"/>
              </a:rPr>
              <a:t>0.7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072366" y="2395023"/>
            <a:ext cx="5093189" cy="2073307"/>
            <a:chOff x="0" y="0"/>
            <a:chExt cx="6790919" cy="276440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790944" cy="2764409"/>
            </a:xfrm>
            <a:custGeom>
              <a:avLst/>
              <a:gdLst/>
              <a:ahLst/>
              <a:cxnLst/>
              <a:rect r="r" b="b" t="t" l="l"/>
              <a:pathLst>
                <a:path h="2764409" w="6790944">
                  <a:moveTo>
                    <a:pt x="0" y="460756"/>
                  </a:moveTo>
                  <a:cubicBezTo>
                    <a:pt x="0" y="206248"/>
                    <a:pt x="206248" y="0"/>
                    <a:pt x="460756" y="0"/>
                  </a:cubicBezTo>
                  <a:lnTo>
                    <a:pt x="6330188" y="0"/>
                  </a:lnTo>
                  <a:cubicBezTo>
                    <a:pt x="6584696" y="0"/>
                    <a:pt x="6790944" y="206248"/>
                    <a:pt x="6790944" y="460756"/>
                  </a:cubicBezTo>
                  <a:lnTo>
                    <a:pt x="6790944" y="2303653"/>
                  </a:lnTo>
                  <a:cubicBezTo>
                    <a:pt x="6790944" y="2558161"/>
                    <a:pt x="6584696" y="2764409"/>
                    <a:pt x="6330188" y="2764409"/>
                  </a:cubicBezTo>
                  <a:lnTo>
                    <a:pt x="460756" y="2764409"/>
                  </a:lnTo>
                  <a:cubicBezTo>
                    <a:pt x="206248" y="2764409"/>
                    <a:pt x="0" y="2558161"/>
                    <a:pt x="0" y="2303653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CE3EE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2079519" y="2402176"/>
            <a:ext cx="137265" cy="2059010"/>
            <a:chOff x="0" y="0"/>
            <a:chExt cx="183020" cy="274534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83007" cy="2745359"/>
            </a:xfrm>
            <a:custGeom>
              <a:avLst/>
              <a:gdLst/>
              <a:ahLst/>
              <a:cxnLst/>
              <a:rect r="r" b="b" t="t" l="l"/>
              <a:pathLst>
                <a:path h="2745359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745359"/>
                  </a:lnTo>
                  <a:lnTo>
                    <a:pt x="0" y="2745359"/>
                  </a:lnTo>
                  <a:close/>
                </a:path>
              </a:pathLst>
            </a:custGeom>
            <a:solidFill>
              <a:srgbClr val="F59D42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2495838" y="2667524"/>
            <a:ext cx="4383519" cy="40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3203D"/>
                </a:solidFill>
                <a:latin typeface="Aptos Bold"/>
                <a:ea typeface="Aptos Bold"/>
                <a:cs typeface="Aptos Bold"/>
                <a:sym typeface="Aptos Bold"/>
              </a:rPr>
              <a:t>Test R² (log)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495838" y="3244044"/>
            <a:ext cx="4356059" cy="1052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2"/>
              </a:lnSpc>
            </a:pPr>
            <a:r>
              <a:rPr lang="en-US" sz="3152">
                <a:solidFill>
                  <a:srgbClr val="283040"/>
                </a:solidFill>
                <a:latin typeface="Aptos"/>
                <a:ea typeface="Aptos"/>
                <a:cs typeface="Aptos"/>
                <a:sym typeface="Aptos"/>
              </a:rPr>
              <a:t>≈ 0.409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08554" y="5055975"/>
            <a:ext cx="15639431" cy="6634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83040"/>
                </a:solidFill>
                <a:latin typeface="Aptos"/>
                <a:ea typeface="Aptos"/>
                <a:cs typeface="Aptos"/>
                <a:sym typeface="Aptos"/>
              </a:rPr>
              <a:t>•  Test MAE in raw dollars: approximately $88.10 million.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83040"/>
                </a:solidFill>
                <a:latin typeface="Aptos"/>
                <a:ea typeface="Aptos"/>
                <a:cs typeface="Aptos"/>
                <a:sym typeface="Aptos"/>
              </a:rPr>
              <a:t>•  Test RMSE in raw dollars: approximately $319.98 million.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83040"/>
                </a:solidFill>
                <a:latin typeface="Aptos"/>
                <a:ea typeface="Aptos"/>
                <a:cs typeface="Aptos"/>
                <a:sym typeface="Aptos"/>
              </a:rPr>
              <a:t>•  Test R² in raw-dollar space is negative (approximately −1.379); dollar-level predictions remain weak.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83040"/>
                </a:solidFill>
                <a:latin typeface="Aptos"/>
                <a:ea typeface="Aptos"/>
                <a:cs typeface="Aptos"/>
                <a:sym typeface="Aptos"/>
              </a:rPr>
              <a:t>•  Because revenue is highly right-skewed, report log-space metrics alongside dollar metrics and explain the limitation.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45828" y="9173994"/>
            <a:ext cx="14953088" cy="27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 b="true">
                <a:solidFill>
                  <a:srgbClr val="AE4828"/>
                </a:solidFill>
                <a:latin typeface="Aptos Bold"/>
                <a:ea typeface="Aptos Bold"/>
                <a:cs typeface="Aptos Bold"/>
                <a:sym typeface="Aptos Bold"/>
              </a:rPr>
              <a:t>Present the metrics transparently; do not describe the model as highly accurate.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92176"/>
            <a:chOff x="0" y="0"/>
            <a:chExt cx="24402453" cy="2562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256286"/>
            </a:xfrm>
            <a:custGeom>
              <a:avLst/>
              <a:gdLst/>
              <a:ahLst/>
              <a:cxnLst/>
              <a:rect r="r" b="b" t="t" l="l"/>
              <a:pathLst>
                <a:path h="256286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18A699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65387" y="631765"/>
            <a:ext cx="16325764" cy="713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13203D"/>
                </a:solidFill>
                <a:latin typeface="Aptos Bold"/>
                <a:ea typeface="Aptos Bold"/>
                <a:cs typeface="Aptos Bold"/>
                <a:sym typeface="Aptos Bold"/>
              </a:rPr>
              <a:t>End-to-End System Workflow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06573" y="1459573"/>
            <a:ext cx="16051235" cy="475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D697B"/>
                </a:solidFill>
                <a:latin typeface="Aptos"/>
                <a:ea typeface="Aptos"/>
                <a:cs typeface="Aptos"/>
                <a:sym typeface="Aptos"/>
              </a:rPr>
              <a:t>From raw data to a served prediction.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819759" y="9713538"/>
            <a:ext cx="540029" cy="21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5D697B"/>
                </a:solidFill>
                <a:latin typeface="Aptos Bold"/>
                <a:ea typeface="Aptos Bold"/>
                <a:cs typeface="Aptos Bold"/>
                <a:sym typeface="Aptos Bold"/>
              </a:rPr>
              <a:t>10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79190" y="3355896"/>
            <a:ext cx="2512562" cy="2004670"/>
            <a:chOff x="0" y="0"/>
            <a:chExt cx="3350082" cy="267289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350133" cy="2672969"/>
            </a:xfrm>
            <a:custGeom>
              <a:avLst/>
              <a:gdLst/>
              <a:ahLst/>
              <a:cxnLst/>
              <a:rect r="r" b="b" t="t" l="l"/>
              <a:pathLst>
                <a:path h="2672969" w="3350133">
                  <a:moveTo>
                    <a:pt x="0" y="445516"/>
                  </a:moveTo>
                  <a:cubicBezTo>
                    <a:pt x="0" y="199517"/>
                    <a:pt x="199517" y="0"/>
                    <a:pt x="445516" y="0"/>
                  </a:cubicBezTo>
                  <a:lnTo>
                    <a:pt x="2904617" y="0"/>
                  </a:lnTo>
                  <a:cubicBezTo>
                    <a:pt x="3150616" y="0"/>
                    <a:pt x="3350133" y="199517"/>
                    <a:pt x="3350133" y="445516"/>
                  </a:cubicBezTo>
                  <a:lnTo>
                    <a:pt x="3350133" y="2227453"/>
                  </a:lnTo>
                  <a:cubicBezTo>
                    <a:pt x="3350133" y="2473452"/>
                    <a:pt x="3150616" y="2672969"/>
                    <a:pt x="2904617" y="2672969"/>
                  </a:cubicBezTo>
                  <a:lnTo>
                    <a:pt x="445516" y="2672969"/>
                  </a:lnTo>
                  <a:cubicBezTo>
                    <a:pt x="199517" y="2672842"/>
                    <a:pt x="0" y="2473452"/>
                    <a:pt x="0" y="2227453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3DEEC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869299" y="3714960"/>
            <a:ext cx="2132333" cy="375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true">
                <a:solidFill>
                  <a:srgbClr val="13203D"/>
                </a:solidFill>
                <a:latin typeface="Aptos Bold"/>
                <a:ea typeface="Aptos Bold"/>
                <a:cs typeface="Aptos Bold"/>
                <a:sym typeface="Aptos Bold"/>
              </a:rPr>
              <a:t>Dataset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69299" y="4397092"/>
            <a:ext cx="2132333" cy="503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>
                <a:solidFill>
                  <a:srgbClr val="5D697B"/>
                </a:solidFill>
                <a:latin typeface="Aptos"/>
                <a:ea typeface="Aptos"/>
                <a:cs typeface="Aptos"/>
                <a:sym typeface="Aptos"/>
              </a:rPr>
              <a:t>CSV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257750" y="4095102"/>
            <a:ext cx="265500" cy="338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 b="true">
                <a:solidFill>
                  <a:srgbClr val="18A699"/>
                </a:solidFill>
                <a:latin typeface="Aptos Bold"/>
                <a:ea typeface="Aptos Bold"/>
                <a:cs typeface="Aptos Bold"/>
                <a:sym typeface="Aptos Bold"/>
              </a:rPr>
              <a:t>→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3602984" y="3355896"/>
            <a:ext cx="2512562" cy="2004670"/>
            <a:chOff x="0" y="0"/>
            <a:chExt cx="3350082" cy="267289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350133" cy="2672969"/>
            </a:xfrm>
            <a:custGeom>
              <a:avLst/>
              <a:gdLst/>
              <a:ahLst/>
              <a:cxnLst/>
              <a:rect r="r" b="b" t="t" l="l"/>
              <a:pathLst>
                <a:path h="2672969" w="3350133">
                  <a:moveTo>
                    <a:pt x="0" y="445516"/>
                  </a:moveTo>
                  <a:cubicBezTo>
                    <a:pt x="0" y="199517"/>
                    <a:pt x="199517" y="0"/>
                    <a:pt x="445516" y="0"/>
                  </a:cubicBezTo>
                  <a:lnTo>
                    <a:pt x="2904617" y="0"/>
                  </a:lnTo>
                  <a:cubicBezTo>
                    <a:pt x="3150616" y="0"/>
                    <a:pt x="3350133" y="199517"/>
                    <a:pt x="3350133" y="445516"/>
                  </a:cubicBezTo>
                  <a:lnTo>
                    <a:pt x="3350133" y="2227453"/>
                  </a:lnTo>
                  <a:cubicBezTo>
                    <a:pt x="3350133" y="2473452"/>
                    <a:pt x="3150616" y="2672969"/>
                    <a:pt x="2904617" y="2672969"/>
                  </a:cubicBezTo>
                  <a:lnTo>
                    <a:pt x="445516" y="2672969"/>
                  </a:lnTo>
                  <a:cubicBezTo>
                    <a:pt x="199517" y="2672842"/>
                    <a:pt x="0" y="2473452"/>
                    <a:pt x="0" y="2227453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3DEEC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3793093" y="3714960"/>
            <a:ext cx="2132333" cy="375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true">
                <a:solidFill>
                  <a:srgbClr val="13203D"/>
                </a:solidFill>
                <a:latin typeface="Aptos Bold"/>
                <a:ea typeface="Aptos Bold"/>
                <a:cs typeface="Aptos Bold"/>
                <a:sym typeface="Aptos Bold"/>
              </a:rPr>
              <a:t>Preprocess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793093" y="4397092"/>
            <a:ext cx="2132333" cy="503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>
                <a:solidFill>
                  <a:srgbClr val="5D697B"/>
                </a:solidFill>
                <a:latin typeface="Aptos"/>
                <a:ea typeface="Aptos"/>
                <a:cs typeface="Aptos"/>
                <a:sym typeface="Aptos"/>
              </a:rPr>
              <a:t>Clean + encode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181544" y="4095102"/>
            <a:ext cx="265500" cy="338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 b="true">
                <a:solidFill>
                  <a:srgbClr val="18A699"/>
                </a:solidFill>
                <a:latin typeface="Aptos Bold"/>
                <a:ea typeface="Aptos Bold"/>
                <a:cs typeface="Aptos Bold"/>
                <a:sym typeface="Aptos Bold"/>
              </a:rPr>
              <a:t>→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526768" y="3355896"/>
            <a:ext cx="2512562" cy="2004670"/>
            <a:chOff x="0" y="0"/>
            <a:chExt cx="3350082" cy="267289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350133" cy="2672969"/>
            </a:xfrm>
            <a:custGeom>
              <a:avLst/>
              <a:gdLst/>
              <a:ahLst/>
              <a:cxnLst/>
              <a:rect r="r" b="b" t="t" l="l"/>
              <a:pathLst>
                <a:path h="2672969" w="3350133">
                  <a:moveTo>
                    <a:pt x="0" y="445516"/>
                  </a:moveTo>
                  <a:cubicBezTo>
                    <a:pt x="0" y="199517"/>
                    <a:pt x="199517" y="0"/>
                    <a:pt x="445516" y="0"/>
                  </a:cubicBezTo>
                  <a:lnTo>
                    <a:pt x="2904617" y="0"/>
                  </a:lnTo>
                  <a:cubicBezTo>
                    <a:pt x="3150616" y="0"/>
                    <a:pt x="3350133" y="199517"/>
                    <a:pt x="3350133" y="445516"/>
                  </a:cubicBezTo>
                  <a:lnTo>
                    <a:pt x="3350133" y="2227453"/>
                  </a:lnTo>
                  <a:cubicBezTo>
                    <a:pt x="3350133" y="2473452"/>
                    <a:pt x="3150616" y="2672969"/>
                    <a:pt x="2904617" y="2672969"/>
                  </a:cubicBezTo>
                  <a:lnTo>
                    <a:pt x="445516" y="2672969"/>
                  </a:lnTo>
                  <a:cubicBezTo>
                    <a:pt x="199517" y="2672842"/>
                    <a:pt x="0" y="2473452"/>
                    <a:pt x="0" y="2227453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3DEEC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6716887" y="3714960"/>
            <a:ext cx="2132333" cy="375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true">
                <a:solidFill>
                  <a:srgbClr val="13203D"/>
                </a:solidFill>
                <a:latin typeface="Aptos Bold"/>
                <a:ea typeface="Aptos Bold"/>
                <a:cs typeface="Aptos Bold"/>
                <a:sym typeface="Aptos Bold"/>
              </a:rPr>
              <a:t>Train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716887" y="4397092"/>
            <a:ext cx="2132333" cy="503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>
                <a:solidFill>
                  <a:srgbClr val="5D697B"/>
                </a:solidFill>
                <a:latin typeface="Aptos"/>
                <a:ea typeface="Aptos"/>
                <a:cs typeface="Aptos"/>
                <a:sym typeface="Aptos"/>
              </a:rPr>
              <a:t>Elastic Net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05338" y="4095102"/>
            <a:ext cx="265500" cy="338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 b="true">
                <a:solidFill>
                  <a:srgbClr val="18A699"/>
                </a:solidFill>
                <a:latin typeface="Aptos Bold"/>
                <a:ea typeface="Aptos Bold"/>
                <a:cs typeface="Aptos Bold"/>
                <a:sym typeface="Aptos Bold"/>
              </a:rPr>
              <a:t>→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450562" y="3355896"/>
            <a:ext cx="2512562" cy="2004670"/>
            <a:chOff x="0" y="0"/>
            <a:chExt cx="3350082" cy="267289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50133" cy="2672969"/>
            </a:xfrm>
            <a:custGeom>
              <a:avLst/>
              <a:gdLst/>
              <a:ahLst/>
              <a:cxnLst/>
              <a:rect r="r" b="b" t="t" l="l"/>
              <a:pathLst>
                <a:path h="2672969" w="3350133">
                  <a:moveTo>
                    <a:pt x="0" y="445516"/>
                  </a:moveTo>
                  <a:cubicBezTo>
                    <a:pt x="0" y="199517"/>
                    <a:pt x="199517" y="0"/>
                    <a:pt x="445516" y="0"/>
                  </a:cubicBezTo>
                  <a:lnTo>
                    <a:pt x="2904617" y="0"/>
                  </a:lnTo>
                  <a:cubicBezTo>
                    <a:pt x="3150616" y="0"/>
                    <a:pt x="3350133" y="199517"/>
                    <a:pt x="3350133" y="445516"/>
                  </a:cubicBezTo>
                  <a:lnTo>
                    <a:pt x="3350133" y="2227453"/>
                  </a:lnTo>
                  <a:cubicBezTo>
                    <a:pt x="3350133" y="2473452"/>
                    <a:pt x="3150616" y="2672969"/>
                    <a:pt x="2904617" y="2672969"/>
                  </a:cubicBezTo>
                  <a:lnTo>
                    <a:pt x="445516" y="2672969"/>
                  </a:lnTo>
                  <a:cubicBezTo>
                    <a:pt x="199517" y="2672842"/>
                    <a:pt x="0" y="2473452"/>
                    <a:pt x="0" y="2227453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3DEEC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9640681" y="3714960"/>
            <a:ext cx="2132333" cy="375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true">
                <a:solidFill>
                  <a:srgbClr val="13203D"/>
                </a:solidFill>
                <a:latin typeface="Aptos Bold"/>
                <a:ea typeface="Aptos Bold"/>
                <a:cs typeface="Aptos Bold"/>
                <a:sym typeface="Aptos Bold"/>
              </a:rPr>
              <a:t>Evaluate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640681" y="4397092"/>
            <a:ext cx="2132333" cy="503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>
                <a:solidFill>
                  <a:srgbClr val="5D697B"/>
                </a:solidFill>
                <a:latin typeface="Aptos"/>
                <a:ea typeface="Aptos"/>
                <a:cs typeface="Aptos"/>
                <a:sym typeface="Aptos"/>
              </a:rPr>
              <a:t>MAE / RMSE / R²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029122" y="4095102"/>
            <a:ext cx="265500" cy="338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 b="true">
                <a:solidFill>
                  <a:srgbClr val="18A699"/>
                </a:solidFill>
                <a:latin typeface="Aptos Bold"/>
                <a:ea typeface="Aptos Bold"/>
                <a:cs typeface="Aptos Bold"/>
                <a:sym typeface="Aptos Bold"/>
              </a:rPr>
              <a:t>→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2374356" y="3355896"/>
            <a:ext cx="2512562" cy="2004670"/>
            <a:chOff x="0" y="0"/>
            <a:chExt cx="3350082" cy="267289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350133" cy="2672969"/>
            </a:xfrm>
            <a:custGeom>
              <a:avLst/>
              <a:gdLst/>
              <a:ahLst/>
              <a:cxnLst/>
              <a:rect r="r" b="b" t="t" l="l"/>
              <a:pathLst>
                <a:path h="2672969" w="3350133">
                  <a:moveTo>
                    <a:pt x="0" y="445516"/>
                  </a:moveTo>
                  <a:cubicBezTo>
                    <a:pt x="0" y="199517"/>
                    <a:pt x="199517" y="0"/>
                    <a:pt x="445516" y="0"/>
                  </a:cubicBezTo>
                  <a:lnTo>
                    <a:pt x="2904617" y="0"/>
                  </a:lnTo>
                  <a:cubicBezTo>
                    <a:pt x="3150616" y="0"/>
                    <a:pt x="3350133" y="199517"/>
                    <a:pt x="3350133" y="445516"/>
                  </a:cubicBezTo>
                  <a:lnTo>
                    <a:pt x="3350133" y="2227453"/>
                  </a:lnTo>
                  <a:cubicBezTo>
                    <a:pt x="3350133" y="2473452"/>
                    <a:pt x="3150616" y="2672969"/>
                    <a:pt x="2904617" y="2672969"/>
                  </a:cubicBezTo>
                  <a:lnTo>
                    <a:pt x="445516" y="2672969"/>
                  </a:lnTo>
                  <a:cubicBezTo>
                    <a:pt x="199517" y="2672842"/>
                    <a:pt x="0" y="2473452"/>
                    <a:pt x="0" y="2227453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3DEEC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12564475" y="3714960"/>
            <a:ext cx="2132333" cy="375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true">
                <a:solidFill>
                  <a:srgbClr val="13203D"/>
                </a:solidFill>
                <a:latin typeface="Aptos Bold"/>
                <a:ea typeface="Aptos Bold"/>
                <a:cs typeface="Aptos Bold"/>
                <a:sym typeface="Aptos Bold"/>
              </a:rPr>
              <a:t>Package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564475" y="4397092"/>
            <a:ext cx="2132333" cy="503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>
                <a:solidFill>
                  <a:srgbClr val="5D697B"/>
                </a:solidFill>
                <a:latin typeface="Aptos"/>
                <a:ea typeface="Aptos"/>
                <a:cs typeface="Aptos"/>
                <a:sym typeface="Aptos"/>
              </a:rPr>
              <a:t>Joblib artifact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952916" y="4095102"/>
            <a:ext cx="265500" cy="338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 b="true">
                <a:solidFill>
                  <a:srgbClr val="18A699"/>
                </a:solidFill>
                <a:latin typeface="Aptos Bold"/>
                <a:ea typeface="Aptos Bold"/>
                <a:cs typeface="Aptos Bold"/>
                <a:sym typeface="Aptos Bold"/>
              </a:rPr>
              <a:t>→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5298150" y="3355896"/>
            <a:ext cx="2512562" cy="2004670"/>
            <a:chOff x="0" y="0"/>
            <a:chExt cx="3350082" cy="267289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350133" cy="2672969"/>
            </a:xfrm>
            <a:custGeom>
              <a:avLst/>
              <a:gdLst/>
              <a:ahLst/>
              <a:cxnLst/>
              <a:rect r="r" b="b" t="t" l="l"/>
              <a:pathLst>
                <a:path h="2672969" w="3350133">
                  <a:moveTo>
                    <a:pt x="0" y="445516"/>
                  </a:moveTo>
                  <a:cubicBezTo>
                    <a:pt x="0" y="199517"/>
                    <a:pt x="199517" y="0"/>
                    <a:pt x="445516" y="0"/>
                  </a:cubicBezTo>
                  <a:lnTo>
                    <a:pt x="2904617" y="0"/>
                  </a:lnTo>
                  <a:cubicBezTo>
                    <a:pt x="3150616" y="0"/>
                    <a:pt x="3350133" y="199517"/>
                    <a:pt x="3350133" y="445516"/>
                  </a:cubicBezTo>
                  <a:lnTo>
                    <a:pt x="3350133" y="2227453"/>
                  </a:lnTo>
                  <a:cubicBezTo>
                    <a:pt x="3350133" y="2473452"/>
                    <a:pt x="3150616" y="2672969"/>
                    <a:pt x="2904617" y="2672969"/>
                  </a:cubicBezTo>
                  <a:lnTo>
                    <a:pt x="445516" y="2672969"/>
                  </a:lnTo>
                  <a:cubicBezTo>
                    <a:pt x="199517" y="2672842"/>
                    <a:pt x="0" y="2473452"/>
                    <a:pt x="0" y="2227453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3DEEC"/>
              </a:solidFill>
              <a:prstDash val="solid"/>
              <a:miter/>
            </a:ln>
          </p:spPr>
        </p:sp>
      </p:grpSp>
      <p:sp>
        <p:nvSpPr>
          <p:cNvPr name="TextBox 34" id="34"/>
          <p:cNvSpPr txBox="true"/>
          <p:nvPr/>
        </p:nvSpPr>
        <p:spPr>
          <a:xfrm rot="0">
            <a:off x="15488260" y="3714960"/>
            <a:ext cx="2132333" cy="375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true">
                <a:solidFill>
                  <a:srgbClr val="13203D"/>
                </a:solidFill>
                <a:latin typeface="Aptos Bold"/>
                <a:ea typeface="Aptos Bold"/>
                <a:cs typeface="Aptos Bold"/>
                <a:sym typeface="Aptos Bold"/>
              </a:rPr>
              <a:t>Serve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5488260" y="4397092"/>
            <a:ext cx="2132333" cy="503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>
                <a:solidFill>
                  <a:srgbClr val="5D697B"/>
                </a:solidFill>
                <a:latin typeface="Aptos"/>
                <a:ea typeface="Aptos"/>
                <a:cs typeface="Aptos"/>
                <a:sym typeface="Aptos"/>
              </a:rPr>
              <a:t>Flask website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08554" y="6291377"/>
            <a:ext cx="15639431" cy="6634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83040"/>
                </a:solidFill>
                <a:latin typeface="Aptos"/>
                <a:ea typeface="Aptos"/>
                <a:cs typeface="Aptos"/>
                <a:sym typeface="Aptos"/>
              </a:rPr>
              <a:t>•  Flask runs locally at http://127.0.0.1:5000 when the launcher is active.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83040"/>
                </a:solidFill>
                <a:latin typeface="Aptos"/>
                <a:ea typeface="Aptos"/>
                <a:cs typeface="Aptos"/>
                <a:sym typeface="Aptos"/>
              </a:rPr>
              <a:t>•  This is local serving, not public cloud deployment.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83040"/>
                </a:solidFill>
                <a:latin typeface="Aptos"/>
                <a:ea typeface="Aptos"/>
                <a:cs typeface="Aptos"/>
                <a:sym typeface="Aptos"/>
              </a:rPr>
              <a:t>•  Prediction logging supports basic monitoring, not a full production MLOps platform.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92176"/>
            <a:chOff x="0" y="0"/>
            <a:chExt cx="24402453" cy="2562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256286"/>
            </a:xfrm>
            <a:custGeom>
              <a:avLst/>
              <a:gdLst/>
              <a:ahLst/>
              <a:cxnLst/>
              <a:rect r="r" b="b" t="t" l="l"/>
              <a:pathLst>
                <a:path h="256286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18A699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65387" y="631765"/>
            <a:ext cx="16325764" cy="713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13203D"/>
                </a:solidFill>
                <a:latin typeface="Aptos Bold"/>
                <a:ea typeface="Aptos Bold"/>
                <a:cs typeface="Aptos Bold"/>
                <a:sym typeface="Aptos Bold"/>
              </a:rPr>
              <a:t>Mapping to the Six ML Modules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06573" y="1459573"/>
            <a:ext cx="16051235" cy="475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D697B"/>
                </a:solidFill>
                <a:latin typeface="Aptos"/>
                <a:ea typeface="Aptos"/>
                <a:cs typeface="Aptos"/>
                <a:sym typeface="Aptos"/>
              </a:rPr>
              <a:t>How the implementation aligns with the course lifecycle.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819759" y="9713538"/>
            <a:ext cx="540029" cy="21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5D697B"/>
                </a:solidFill>
                <a:latin typeface="Aptos Bold"/>
                <a:ea typeface="Aptos Bold"/>
                <a:cs typeface="Aptos Bold"/>
                <a:sym typeface="Aptos Bold"/>
              </a:rPr>
              <a:t>11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90984" y="2257758"/>
            <a:ext cx="7907169" cy="1592875"/>
            <a:chOff x="0" y="0"/>
            <a:chExt cx="10542892" cy="212383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542778" cy="2123821"/>
            </a:xfrm>
            <a:custGeom>
              <a:avLst/>
              <a:gdLst/>
              <a:ahLst/>
              <a:cxnLst/>
              <a:rect r="r" b="b" t="t" l="l"/>
              <a:pathLst>
                <a:path h="2123821" w="10542778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10188829" y="0"/>
                  </a:lnTo>
                  <a:cubicBezTo>
                    <a:pt x="10384282" y="0"/>
                    <a:pt x="10542778" y="158496"/>
                    <a:pt x="10542778" y="353949"/>
                  </a:cubicBezTo>
                  <a:lnTo>
                    <a:pt x="10542778" y="1769872"/>
                  </a:lnTo>
                  <a:cubicBezTo>
                    <a:pt x="10542778" y="1965325"/>
                    <a:pt x="10384282" y="2123821"/>
                    <a:pt x="10188829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CE3EE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098137" y="2264912"/>
            <a:ext cx="137265" cy="1578569"/>
            <a:chOff x="0" y="0"/>
            <a:chExt cx="183020" cy="21047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3007" cy="2104771"/>
            </a:xfrm>
            <a:custGeom>
              <a:avLst/>
              <a:gdLst/>
              <a:ahLst/>
              <a:cxnLst/>
              <a:rect r="r" b="b" t="t" l="l"/>
              <a:pathLst>
                <a:path h="2104771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104771"/>
                  </a:lnTo>
                  <a:lnTo>
                    <a:pt x="0" y="2104771"/>
                  </a:lnTo>
                  <a:close/>
                </a:path>
              </a:pathLst>
            </a:custGeom>
            <a:solidFill>
              <a:srgbClr val="2F67D8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514456" y="2530259"/>
            <a:ext cx="7197490" cy="40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3203D"/>
                </a:solidFill>
                <a:latin typeface="Aptos Bold"/>
                <a:ea typeface="Aptos Bold"/>
                <a:cs typeface="Aptos Bold"/>
                <a:sym typeface="Aptos Bold"/>
              </a:rPr>
              <a:t>M1 — ML lifecycle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14456" y="3106779"/>
            <a:ext cx="7170039" cy="572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83040"/>
                </a:solidFill>
                <a:latin typeface="Aptos"/>
                <a:ea typeface="Aptos"/>
                <a:cs typeface="Aptos"/>
                <a:sym typeface="Aptos"/>
              </a:rPr>
              <a:t>Raw data → trained artifact → prediction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601562" y="2257758"/>
            <a:ext cx="7907169" cy="1592875"/>
            <a:chOff x="0" y="0"/>
            <a:chExt cx="10542892" cy="212383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542778" cy="2123821"/>
            </a:xfrm>
            <a:custGeom>
              <a:avLst/>
              <a:gdLst/>
              <a:ahLst/>
              <a:cxnLst/>
              <a:rect r="r" b="b" t="t" l="l"/>
              <a:pathLst>
                <a:path h="2123821" w="10542778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10188829" y="0"/>
                  </a:lnTo>
                  <a:cubicBezTo>
                    <a:pt x="10384282" y="0"/>
                    <a:pt x="10542778" y="158496"/>
                    <a:pt x="10542778" y="353949"/>
                  </a:cubicBezTo>
                  <a:lnTo>
                    <a:pt x="10542778" y="1769872"/>
                  </a:lnTo>
                  <a:cubicBezTo>
                    <a:pt x="10542778" y="1965325"/>
                    <a:pt x="10384282" y="2123821"/>
                    <a:pt x="10188829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CE3EE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9608706" y="2264912"/>
            <a:ext cx="137265" cy="1578569"/>
            <a:chOff x="0" y="0"/>
            <a:chExt cx="183020" cy="210475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3007" cy="2104771"/>
            </a:xfrm>
            <a:custGeom>
              <a:avLst/>
              <a:gdLst/>
              <a:ahLst/>
              <a:cxnLst/>
              <a:rect r="r" b="b" t="t" l="l"/>
              <a:pathLst>
                <a:path h="2104771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104771"/>
                  </a:lnTo>
                  <a:lnTo>
                    <a:pt x="0" y="2104771"/>
                  </a:lnTo>
                  <a:close/>
                </a:path>
              </a:pathLst>
            </a:custGeom>
            <a:solidFill>
              <a:srgbClr val="18A699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025024" y="2530259"/>
            <a:ext cx="7197490" cy="40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3203D"/>
                </a:solidFill>
                <a:latin typeface="Aptos Bold"/>
                <a:ea typeface="Aptos Bold"/>
                <a:cs typeface="Aptos Bold"/>
                <a:sym typeface="Aptos Bold"/>
              </a:rPr>
              <a:t>M2 — Linear models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025024" y="3106779"/>
            <a:ext cx="7170039" cy="572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83040"/>
                </a:solidFill>
                <a:latin typeface="Aptos"/>
                <a:ea typeface="Aptos"/>
                <a:cs typeface="Aptos"/>
                <a:sym typeface="Aptos"/>
              </a:rPr>
              <a:t>Elastic Net, regularization, encoding and scaling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90984" y="4316768"/>
            <a:ext cx="7907169" cy="1592875"/>
            <a:chOff x="0" y="0"/>
            <a:chExt cx="10542892" cy="212383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542778" cy="2123821"/>
            </a:xfrm>
            <a:custGeom>
              <a:avLst/>
              <a:gdLst/>
              <a:ahLst/>
              <a:cxnLst/>
              <a:rect r="r" b="b" t="t" l="l"/>
              <a:pathLst>
                <a:path h="2123821" w="10542778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10188829" y="0"/>
                  </a:lnTo>
                  <a:cubicBezTo>
                    <a:pt x="10384282" y="0"/>
                    <a:pt x="10542778" y="158496"/>
                    <a:pt x="10542778" y="353949"/>
                  </a:cubicBezTo>
                  <a:lnTo>
                    <a:pt x="10542778" y="1769872"/>
                  </a:lnTo>
                  <a:cubicBezTo>
                    <a:pt x="10542778" y="1965325"/>
                    <a:pt x="10384282" y="2123821"/>
                    <a:pt x="10188829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CE3EE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098137" y="4323921"/>
            <a:ext cx="137265" cy="1578569"/>
            <a:chOff x="0" y="0"/>
            <a:chExt cx="183020" cy="210475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83007" cy="2104771"/>
            </a:xfrm>
            <a:custGeom>
              <a:avLst/>
              <a:gdLst/>
              <a:ahLst/>
              <a:cxnLst/>
              <a:rect r="r" b="b" t="t" l="l"/>
              <a:pathLst>
                <a:path h="2104771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104771"/>
                  </a:lnTo>
                  <a:lnTo>
                    <a:pt x="0" y="2104771"/>
                  </a:lnTo>
                  <a:close/>
                </a:path>
              </a:pathLst>
            </a:custGeom>
            <a:solidFill>
              <a:srgbClr val="F59D42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514456" y="4589269"/>
            <a:ext cx="7197490" cy="40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3203D"/>
                </a:solidFill>
                <a:latin typeface="Aptos Bold"/>
                <a:ea typeface="Aptos Bold"/>
                <a:cs typeface="Aptos Bold"/>
                <a:sym typeface="Aptos Bold"/>
              </a:rPr>
              <a:t>M3 — Tree models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14456" y="5165788"/>
            <a:ext cx="7170039" cy="572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83040"/>
                </a:solidFill>
                <a:latin typeface="Aptos"/>
                <a:ea typeface="Aptos"/>
                <a:cs typeface="Aptos"/>
                <a:sym typeface="Aptos"/>
              </a:rPr>
              <a:t>Decision Tree, Random Forest, Gradient Boosting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601562" y="4316768"/>
            <a:ext cx="7907169" cy="1592875"/>
            <a:chOff x="0" y="0"/>
            <a:chExt cx="10542892" cy="212383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542778" cy="2123821"/>
            </a:xfrm>
            <a:custGeom>
              <a:avLst/>
              <a:gdLst/>
              <a:ahLst/>
              <a:cxnLst/>
              <a:rect r="r" b="b" t="t" l="l"/>
              <a:pathLst>
                <a:path h="2123821" w="10542778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10188829" y="0"/>
                  </a:lnTo>
                  <a:cubicBezTo>
                    <a:pt x="10384282" y="0"/>
                    <a:pt x="10542778" y="158496"/>
                    <a:pt x="10542778" y="353949"/>
                  </a:cubicBezTo>
                  <a:lnTo>
                    <a:pt x="10542778" y="1769872"/>
                  </a:lnTo>
                  <a:cubicBezTo>
                    <a:pt x="10542778" y="1965325"/>
                    <a:pt x="10384282" y="2123821"/>
                    <a:pt x="10188829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CE3EE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9608706" y="4323921"/>
            <a:ext cx="137265" cy="1578569"/>
            <a:chOff x="0" y="0"/>
            <a:chExt cx="183020" cy="210475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83007" cy="2104771"/>
            </a:xfrm>
            <a:custGeom>
              <a:avLst/>
              <a:gdLst/>
              <a:ahLst/>
              <a:cxnLst/>
              <a:rect r="r" b="b" t="t" l="l"/>
              <a:pathLst>
                <a:path h="2104771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104771"/>
                  </a:lnTo>
                  <a:lnTo>
                    <a:pt x="0" y="2104771"/>
                  </a:lnTo>
                  <a:close/>
                </a:path>
              </a:pathLst>
            </a:custGeom>
            <a:solidFill>
              <a:srgbClr val="2F67D8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0025024" y="4589269"/>
            <a:ext cx="7197490" cy="40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3203D"/>
                </a:solidFill>
                <a:latin typeface="Aptos Bold"/>
                <a:ea typeface="Aptos Bold"/>
                <a:cs typeface="Aptos Bold"/>
                <a:sym typeface="Aptos Bold"/>
              </a:rPr>
              <a:t>M4 — Unsupervised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025024" y="5165788"/>
            <a:ext cx="7170039" cy="572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83040"/>
                </a:solidFill>
                <a:latin typeface="Aptos"/>
                <a:ea typeface="Aptos"/>
                <a:cs typeface="Aptos"/>
                <a:sym typeface="Aptos"/>
              </a:rPr>
              <a:t>K-Means, DBSCAN, PCA, Isolation Forest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090984" y="6375778"/>
            <a:ext cx="7907169" cy="1592875"/>
            <a:chOff x="0" y="0"/>
            <a:chExt cx="10542892" cy="212383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542778" cy="2123821"/>
            </a:xfrm>
            <a:custGeom>
              <a:avLst/>
              <a:gdLst/>
              <a:ahLst/>
              <a:cxnLst/>
              <a:rect r="r" b="b" t="t" l="l"/>
              <a:pathLst>
                <a:path h="2123821" w="10542778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10188829" y="0"/>
                  </a:lnTo>
                  <a:cubicBezTo>
                    <a:pt x="10384282" y="0"/>
                    <a:pt x="10542778" y="158496"/>
                    <a:pt x="10542778" y="353949"/>
                  </a:cubicBezTo>
                  <a:lnTo>
                    <a:pt x="10542778" y="1769872"/>
                  </a:lnTo>
                  <a:cubicBezTo>
                    <a:pt x="10542778" y="1965325"/>
                    <a:pt x="10384282" y="2123821"/>
                    <a:pt x="10188829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CE3EE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098137" y="6382931"/>
            <a:ext cx="137265" cy="1578569"/>
            <a:chOff x="0" y="0"/>
            <a:chExt cx="183020" cy="210475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83007" cy="2104771"/>
            </a:xfrm>
            <a:custGeom>
              <a:avLst/>
              <a:gdLst/>
              <a:ahLst/>
              <a:cxnLst/>
              <a:rect r="r" b="b" t="t" l="l"/>
              <a:pathLst>
                <a:path h="2104771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104771"/>
                  </a:lnTo>
                  <a:lnTo>
                    <a:pt x="0" y="2104771"/>
                  </a:lnTo>
                  <a:close/>
                </a:path>
              </a:pathLst>
            </a:custGeom>
            <a:solidFill>
              <a:srgbClr val="18A699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514456" y="6648279"/>
            <a:ext cx="7197490" cy="40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3203D"/>
                </a:solidFill>
                <a:latin typeface="Aptos Bold"/>
                <a:ea typeface="Aptos Bold"/>
                <a:cs typeface="Aptos Bold"/>
                <a:sym typeface="Aptos Bold"/>
              </a:rPr>
              <a:t>M5 — Evaluation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514456" y="7224798"/>
            <a:ext cx="7170039" cy="572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83040"/>
                </a:solidFill>
                <a:latin typeface="Aptos"/>
                <a:ea typeface="Aptos"/>
                <a:cs typeface="Aptos"/>
                <a:sym typeface="Aptos"/>
              </a:rPr>
              <a:t>Train/validation/test and regression metrics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601562" y="6375778"/>
            <a:ext cx="7907169" cy="1592875"/>
            <a:chOff x="0" y="0"/>
            <a:chExt cx="10542892" cy="212383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542778" cy="2123821"/>
            </a:xfrm>
            <a:custGeom>
              <a:avLst/>
              <a:gdLst/>
              <a:ahLst/>
              <a:cxnLst/>
              <a:rect r="r" b="b" t="t" l="l"/>
              <a:pathLst>
                <a:path h="2123821" w="10542778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10188829" y="0"/>
                  </a:lnTo>
                  <a:cubicBezTo>
                    <a:pt x="10384282" y="0"/>
                    <a:pt x="10542778" y="158496"/>
                    <a:pt x="10542778" y="353949"/>
                  </a:cubicBezTo>
                  <a:lnTo>
                    <a:pt x="10542778" y="1769872"/>
                  </a:lnTo>
                  <a:cubicBezTo>
                    <a:pt x="10542778" y="1965325"/>
                    <a:pt x="10384282" y="2123821"/>
                    <a:pt x="10188829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CE3EE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9608706" y="6382931"/>
            <a:ext cx="137265" cy="1578569"/>
            <a:chOff x="0" y="0"/>
            <a:chExt cx="183020" cy="210475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83007" cy="2104771"/>
            </a:xfrm>
            <a:custGeom>
              <a:avLst/>
              <a:gdLst/>
              <a:ahLst/>
              <a:cxnLst/>
              <a:rect r="r" b="b" t="t" l="l"/>
              <a:pathLst>
                <a:path h="2104771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104771"/>
                  </a:lnTo>
                  <a:lnTo>
                    <a:pt x="0" y="2104771"/>
                  </a:lnTo>
                  <a:close/>
                </a:path>
              </a:pathLst>
            </a:custGeom>
            <a:solidFill>
              <a:srgbClr val="F59D42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10025024" y="6648279"/>
            <a:ext cx="7197490" cy="40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3203D"/>
                </a:solidFill>
                <a:latin typeface="Aptos Bold"/>
                <a:ea typeface="Aptos Bold"/>
                <a:cs typeface="Aptos Bold"/>
                <a:sym typeface="Aptos Bold"/>
              </a:rPr>
              <a:t>M6 — ML engineering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025024" y="7224798"/>
            <a:ext cx="7170039" cy="572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83040"/>
                </a:solidFill>
                <a:latin typeface="Aptos"/>
                <a:ea typeface="Aptos"/>
                <a:cs typeface="Aptos"/>
                <a:sym typeface="Aptos"/>
              </a:rPr>
              <a:t>Joblib packaging, Flask serving, prediction logs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92176"/>
            <a:chOff x="0" y="0"/>
            <a:chExt cx="24402453" cy="2562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256286"/>
            </a:xfrm>
            <a:custGeom>
              <a:avLst/>
              <a:gdLst/>
              <a:ahLst/>
              <a:cxnLst/>
              <a:rect r="r" b="b" t="t" l="l"/>
              <a:pathLst>
                <a:path h="256286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18A699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65387" y="631765"/>
            <a:ext cx="16325764" cy="713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13203D"/>
                </a:solidFill>
                <a:latin typeface="Aptos Bold"/>
                <a:ea typeface="Aptos Bold"/>
                <a:cs typeface="Aptos Bold"/>
                <a:sym typeface="Aptos Bold"/>
              </a:rPr>
              <a:t>Limitations &amp; Future Improvements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06573" y="1459573"/>
            <a:ext cx="16051235" cy="475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D697B"/>
                </a:solidFill>
                <a:latin typeface="Aptos"/>
                <a:ea typeface="Aptos"/>
                <a:cs typeface="Aptos"/>
                <a:sym typeface="Aptos"/>
              </a:rPr>
              <a:t>Responsible interpretation of predictions.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819759" y="9713538"/>
            <a:ext cx="540029" cy="21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5D697B"/>
                </a:solidFill>
                <a:latin typeface="Aptos Bold"/>
                <a:ea typeface="Aptos Bold"/>
                <a:cs typeface="Aptos Bold"/>
                <a:sym typeface="Aptos Bold"/>
              </a:rPr>
              <a:t>12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08554" y="2516534"/>
            <a:ext cx="15639431" cy="6634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83040"/>
                </a:solidFill>
                <a:latin typeface="Aptos"/>
                <a:ea typeface="Aptos"/>
                <a:cs typeface="Aptos"/>
                <a:sym typeface="Aptos"/>
              </a:rPr>
              <a:t>•  Revenue is affected by marketing, competition, distribution, audience sentiment and other factors not fully represented in the dataset.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83040"/>
                </a:solidFill>
                <a:latin typeface="Aptos"/>
                <a:ea typeface="Aptos"/>
                <a:cs typeface="Aptos"/>
                <a:sym typeface="Aptos"/>
              </a:rPr>
              <a:t>•  The dataset is historical and may not represent current market conditions.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83040"/>
                </a:solidFill>
                <a:latin typeface="Aptos"/>
                <a:ea typeface="Aptos"/>
                <a:cs typeface="Aptos"/>
                <a:sym typeface="Aptos"/>
              </a:rPr>
              <a:t>•  Negative raw-dollar R² indicates that dollar-level predictions need improvement.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83040"/>
                </a:solidFill>
                <a:latin typeface="Aptos"/>
                <a:ea typeface="Aptos"/>
                <a:cs typeface="Aptos"/>
                <a:sym typeface="Aptos"/>
              </a:rPr>
              <a:t>•  Future work: add features, compare robust models, use time-aware validation and evaluate calibration on an untouched test set.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83040"/>
                </a:solidFill>
                <a:latin typeface="Aptos"/>
                <a:ea typeface="Aptos"/>
                <a:cs typeface="Aptos"/>
                <a:sym typeface="Aptos"/>
              </a:rPr>
              <a:t>•  Predictions should be treated as estimates, not financial guarantees.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1320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39926" y="1006592"/>
            <a:ext cx="15502166" cy="88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08554" y="2310632"/>
            <a:ext cx="14678558" cy="1230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3"/>
              </a:lnSpc>
            </a:pPr>
            <a:r>
              <a:rPr lang="en-US" sz="3452" b="true">
                <a:solidFill>
                  <a:srgbClr val="B4E1EB"/>
                </a:solidFill>
                <a:latin typeface="Aptos Bold"/>
                <a:ea typeface="Aptos Bold"/>
                <a:cs typeface="Aptos Bold"/>
                <a:sym typeface="Aptos Bold"/>
              </a:rPr>
              <a:t>The project demonstrates an end-to-end machine-learning workflow for movie revenue estimation.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45828" y="4163739"/>
            <a:ext cx="14815823" cy="3358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• Elastic Net Regression is the main prediction algorithm.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• Tree-based and unsupervised methods add comparison and analysis.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• Flask serves the trained model locally.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• Evaluation results are reported transparently, including limitations.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08554" y="8840353"/>
            <a:ext cx="15227627" cy="603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true">
                <a:solidFill>
                  <a:srgbClr val="18A699"/>
                </a:solidFill>
                <a:latin typeface="Aptos Bold"/>
                <a:ea typeface="Aptos Bold"/>
                <a:cs typeface="Aptos Bold"/>
                <a:sym typeface="Aptos Bold"/>
              </a:rPr>
              <a:t>Thank you | Questions?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819759" y="9713538"/>
            <a:ext cx="540029" cy="21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BEC8DC"/>
                </a:solidFill>
                <a:latin typeface="Aptos Bold"/>
                <a:ea typeface="Aptos Bold"/>
                <a:cs typeface="Aptos Bold"/>
                <a:sym typeface="Aptos Bold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DAHX9Ic0uQM</dc:identifier>
  <dcterms:modified xsi:type="dcterms:W3CDTF">2011-08-01T06:04:30Z</dcterms:modified>
  <cp:revision>1</cp:revision>
  <dc:title>BoxOffice Revenue Prediction PPT.pptx</dc:title>
</cp:coreProperties>
</file>